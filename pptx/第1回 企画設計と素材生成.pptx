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257300" y="1457325"/>
            <a:ext cx="398532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DEEP PRISM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5279082" y="1576388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5" name="Text 3"/>
          <p:cNvSpPr/>
          <p:nvPr/>
        </p:nvSpPr>
        <p:spPr>
          <a:xfrm>
            <a:off x="5945832" y="1457325"/>
            <a:ext cx="380264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AE LYRIC MV WORKSHOP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257300" y="2009775"/>
            <a:ext cx="9258300" cy="2286000"/>
          </a:xfrm>
          <a:prstGeom prst="rect">
            <a:avLst/>
          </a:prstGeom>
          <a:solidFill>
            <a:srgbClr val="FFE9B0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2009775"/>
            <a:ext cx="9536049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2500" b="1" i="1" spc="-900" kern="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500" dirty="0"/>
          </a:p>
        </p:txBody>
      </p:sp>
      <p:sp>
        <p:nvSpPr>
          <p:cNvPr id="8" name="Shape 6"/>
          <p:cNvSpPr/>
          <p:nvPr/>
        </p:nvSpPr>
        <p:spPr>
          <a:xfrm>
            <a:off x="1257300" y="4352925"/>
            <a:ext cx="9258300" cy="1714500"/>
          </a:xfrm>
          <a:prstGeom prst="rect">
            <a:avLst/>
          </a:prstGeom>
          <a:solidFill>
            <a:srgbClr val="FFE9B0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4352925"/>
            <a:ext cx="9536049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7200" b="1" i="1" spc="-7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GENESIS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1257300" y="6238875"/>
            <a:ext cx="9536049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spc="456" kern="0" dirty="0">
                <a:solidFill>
                  <a:srgbClr val="F8EFFF">
                    <a:alpha val="92000"/>
                  </a:srgbClr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企画設計と素材生成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257300" y="7010400"/>
            <a:ext cx="667131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575" spc="95" kern="0" dirty="0">
                <a:solidFill>
                  <a:srgbClr val="F8EFFF">
                    <a:alpha val="74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AI素材でMVの世界観と方向性を決める。 GPTでキャラを、Sunoで楽曲を生成し、</a:t>
            </a:r>
            <a:pPr algn="l" indent="0" marL="0">
              <a:lnSpc>
                <a:spcPct val="195000"/>
              </a:lnSpc>
              <a:buNone/>
            </a:pPr>
            <a:r>
              <a:rPr lang="en-US" sz="1575" spc="95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“言葉と画像” </a:t>
            </a:r>
            <a:pPr algn="l" indent="0" marL="0">
              <a:lnSpc>
                <a:spcPct val="195000"/>
              </a:lnSpc>
              <a:buNone/>
            </a:pPr>
            <a:r>
              <a:rPr lang="en-US" sz="1575" spc="95" kern="0" dirty="0">
                <a:solidFill>
                  <a:srgbClr val="F8EFFF">
                    <a:alpha val="74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でコンセプトを語れる状態をつくる。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1257300" y="8477250"/>
            <a:ext cx="1695450" cy="371475"/>
          </a:xfrm>
          <a:prstGeom prst="roundRect">
            <a:avLst>
              <a:gd name="adj" fmla="val 7692"/>
            </a:avLst>
          </a:prstGeom>
          <a:ln w="9525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9225" y="8562975"/>
            <a:ext cx="14478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GPT — ILLUST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3067050" y="8477250"/>
            <a:ext cx="1695450" cy="371475"/>
          </a:xfrm>
          <a:prstGeom prst="roundRect">
            <a:avLst>
              <a:gd name="adj" fmla="val 7692"/>
            </a:avLst>
          </a:prstGeom>
          <a:ln w="9525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28975" y="8562975"/>
            <a:ext cx="14478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SUNO — MUSIC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4876800" y="8477250"/>
            <a:ext cx="1809750" cy="371475"/>
          </a:xfrm>
          <a:prstGeom prst="roundRect">
            <a:avLst>
              <a:gd name="adj" fmla="val 7692"/>
            </a:avLst>
          </a:prstGeom>
          <a:solidFill>
            <a:srgbClr val="FF4FA8"/>
          </a:solidFill>
          <a:ln/>
          <a:effectLst>
            <a:outerShdw sx="100000" sy="100000" kx="0" ky="0" algn="bl" rotWithShape="0" blurRad="133350" dist="50800" dir="16200000">
              <a:srgbClr val="FF4FA8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38725" y="8562975"/>
            <a:ext cx="15621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AFTER EFFECTS</a:t>
            </a:r>
            <a:endParaRPr lang="en-US" sz="1125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0"/>
            <a:ext cx="7772400" cy="102870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10515600" y="0"/>
            <a:ext cx="7772400" cy="10287000"/>
          </a:xfrm>
          <a:prstGeom prst="rect">
            <a:avLst/>
          </a:prstGeom>
          <a:solidFill>
            <a:srgbClr val="07030F"/>
          </a:solidFill>
          <a:ln/>
        </p:spPr>
      </p:sp>
      <p:sp>
        <p:nvSpPr>
          <p:cNvPr id="20" name="Shape 17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419100" y="9934575"/>
            <a:ext cx="163651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KINETIC STAGE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2112764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2293739" y="9934575"/>
            <a:ext cx="382933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VTUBER MUSIC VIDEO · AFTER EFFECTS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6068675" y="9934575"/>
            <a:ext cx="18764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01 / 06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1654225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24759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TODAY'S GOALS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8307559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今日のゴール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830755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この回が終わると、MVの“方向性”を語れるようになる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555403" y="4825064"/>
            <a:ext cx="81224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GPTで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2462957" y="4815539"/>
            <a:ext cx="257651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キャラクターイラスト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5134719" y="4825064"/>
            <a:ext cx="132635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を生成する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555403" y="5396564"/>
            <a:ext cx="95003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Sunoで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2600771" y="5387039"/>
            <a:ext cx="157638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歌詞付き楽曲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4272409" y="5396546"/>
            <a:ext cx="132635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を生成する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555403" y="5968046"/>
            <a:ext cx="8262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楽曲の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2476946" y="5958521"/>
            <a:ext cx="10763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感情曲線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3648521" y="5968046"/>
            <a:ext cx="385317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を読み取り、世界観を言語化する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555403" y="6539546"/>
            <a:ext cx="128178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PureRefで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2932509" y="6530021"/>
            <a:ext cx="232648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リファレンスボード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5354241" y="6539546"/>
            <a:ext cx="132635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を構築する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555403" y="7111046"/>
            <a:ext cx="168045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MVの方向性を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3331220" y="7101521"/>
            <a:ext cx="162490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“言葉と画像”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5051375" y="7111046"/>
            <a:ext cx="283285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で説明できるようになる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0545514" y="3485495"/>
            <a:ext cx="6485186" cy="5334000"/>
          </a:xfrm>
          <a:prstGeom prst="roundRect">
            <a:avLst>
              <a:gd name="adj" fmla="val 1071"/>
            </a:avLst>
          </a:prstGeom>
          <a:solidFill>
            <a:srgbClr val="0B0518">
              <a:alpha val="98000"/>
            </a:srgbClr>
          </a:solidFill>
          <a:ln w="9525">
            <a:solidFill>
              <a:srgbClr val="FFD27A">
                <a:alpha val="28000"/>
              </a:srgbClr>
            </a:solidFill>
            <a:prstDash val="solid"/>
          </a:ln>
          <a:effectLst>
            <a:outerShdw sx="100000" sy="100000" kx="0" ky="0" algn="bl" rotWithShape="0" blurRad="381000" dist="50800" dir="16200000">
              <a:srgbClr val="B850FF">
                <a:alpha val="15735"/>
              </a:srgbClr>
            </a:outerShdw>
          </a:effectLst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55039" y="3495020"/>
            <a:ext cx="6466136" cy="531495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10688389" y="3628370"/>
            <a:ext cx="1841897" cy="257175"/>
          </a:xfrm>
          <a:prstGeom prst="roundRect">
            <a:avLst>
              <a:gd name="adj" fmla="val 11111"/>
            </a:avLst>
          </a:prstGeom>
          <a:solidFill>
            <a:srgbClr val="0A0514">
              <a:alpha val="70000"/>
            </a:srgbClr>
          </a:solidFill>
          <a:ln w="9525">
            <a:solidFill>
              <a:srgbClr val="FFD27A">
                <a:alpha val="3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793164" y="3675995"/>
            <a:ext cx="170854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216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CHARACTER — ROUGH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55039" y="8181320"/>
            <a:ext cx="6466136" cy="628650"/>
          </a:xfrm>
          <a:prstGeom prst="rect">
            <a:avLst/>
          </a:prstGeom>
          <a:solidFill>
            <a:srgbClr val="07030F">
              <a:alpha val="92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10764589" y="8467070"/>
            <a:ext cx="624102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F8EFFF">
                    <a:alpha val="78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/ 鉛筆ラフ → AI素材化の起点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01 — 02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1654225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229133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PIPELINE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8698303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AI MV制作の全体像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869830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7つの工程 — 本講座はこの流れを1本ずつ完成させていく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264271" y="4901037"/>
            <a:ext cx="31566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2136279" y="5358237"/>
            <a:ext cx="495300" cy="495300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209550" dist="50800" dir="16200000">
              <a:srgbClr val="FF4FA8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12466" y="5372524"/>
            <a:ext cx="54292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♪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89237" y="5986887"/>
            <a:ext cx="78953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54" kern="0" dirty="0">
                <a:solidFill>
                  <a:srgbClr val="F8EFFF">
                    <a:alpha val="8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楽曲生成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220516" y="6377412"/>
            <a:ext cx="4031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SUNO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504432" y="4901037"/>
            <a:ext cx="34215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4389686" y="5358237"/>
            <a:ext cx="495300" cy="495300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209550" dist="50800" dir="16200000">
              <a:srgbClr val="FF4FA8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65873" y="5372524"/>
            <a:ext cx="54292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✦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064347" y="5986887"/>
            <a:ext cx="11461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54" kern="0" dirty="0">
                <a:solidFill>
                  <a:srgbClr val="F8EFFF">
                    <a:alpha val="8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キャラ・背景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14701" y="6377412"/>
            <a:ext cx="32146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GPT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760815" y="4901037"/>
            <a:ext cx="33605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6643092" y="5358237"/>
            <a:ext cx="495300" cy="495300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209550" dist="50800" dir="16200000">
              <a:srgbClr val="FF4FA8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19280" y="5372524"/>
            <a:ext cx="54292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◴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406902" y="5986887"/>
            <a:ext cx="96782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54" kern="0" dirty="0">
                <a:solidFill>
                  <a:srgbClr val="F8EFFF">
                    <a:alpha val="8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世界観設計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59575" y="6377412"/>
            <a:ext cx="113868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COLOR · THEME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9001423" y="4901022"/>
            <a:ext cx="36165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04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8896499" y="5358222"/>
            <a:ext cx="495300" cy="495300"/>
          </a:xfrm>
          <a:prstGeom prst="ellipse">
            <a:avLst/>
          </a:prstGeom>
          <a:solidFill>
            <a:srgbClr val="0A0514">
              <a:alpha val="60000"/>
            </a:srgbClr>
          </a:solidFill>
          <a:ln w="14288">
            <a:solidFill>
              <a:srgbClr val="FFD27A">
                <a:alpha val="35000"/>
              </a:srgbClr>
            </a:solidFill>
            <a:prstDash val="solid"/>
          </a:ln>
          <a:effectLst>
            <a:outerShdw sx="100000" sy="100000" kx="0" ky="0" algn="bl" rotWithShape="0" blurRad="171450" dist="50800" dir="16200000">
              <a:srgbClr val="B850FF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872686" y="5372510"/>
            <a:ext cx="54292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▣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8603754" y="5986872"/>
            <a:ext cx="10807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54" kern="0" dirty="0">
                <a:solidFill>
                  <a:srgbClr val="F8EFFF">
                    <a:alpha val="8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Vコンテ制作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062442" y="6377397"/>
            <a:ext cx="2397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AE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11264503" y="4901022"/>
            <a:ext cx="34245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05</a:t>
            </a:r>
            <a:endParaRPr lang="en-US" sz="2550" dirty="0"/>
          </a:p>
        </p:txBody>
      </p:sp>
      <p:sp>
        <p:nvSpPr>
          <p:cNvPr id="30" name="Shape 28"/>
          <p:cNvSpPr/>
          <p:nvPr/>
        </p:nvSpPr>
        <p:spPr>
          <a:xfrm>
            <a:off x="11149905" y="5358222"/>
            <a:ext cx="495300" cy="495300"/>
          </a:xfrm>
          <a:prstGeom prst="ellipse">
            <a:avLst/>
          </a:prstGeom>
          <a:solidFill>
            <a:srgbClr val="0A0514">
              <a:alpha val="60000"/>
            </a:srgbClr>
          </a:solidFill>
          <a:ln w="14288">
            <a:solidFill>
              <a:srgbClr val="FFD27A">
                <a:alpha val="35000"/>
              </a:srgbClr>
            </a:solidFill>
            <a:prstDash val="solid"/>
          </a:ln>
          <a:effectLst>
            <a:outerShdw sx="100000" sy="100000" kx="0" ky="0" algn="bl" rotWithShape="0" blurRad="171450" dist="50800" dir="16200000">
              <a:srgbClr val="B850FF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1126093" y="5372510"/>
            <a:ext cx="54292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⬚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0824567" y="5986872"/>
            <a:ext cx="11461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54" kern="0" dirty="0">
                <a:solidFill>
                  <a:srgbClr val="F8EFFF">
                    <a:alpha val="8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パララックス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1234142" y="6377397"/>
            <a:ext cx="40317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2.5D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13509575" y="4901022"/>
            <a:ext cx="35897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06</a:t>
            </a:r>
            <a:endParaRPr lang="en-US" sz="2550" dirty="0"/>
          </a:p>
        </p:txBody>
      </p:sp>
      <p:sp>
        <p:nvSpPr>
          <p:cNvPr id="35" name="Shape 33"/>
          <p:cNvSpPr/>
          <p:nvPr/>
        </p:nvSpPr>
        <p:spPr>
          <a:xfrm>
            <a:off x="13403312" y="5358222"/>
            <a:ext cx="495300" cy="495300"/>
          </a:xfrm>
          <a:prstGeom prst="ellipse">
            <a:avLst/>
          </a:prstGeom>
          <a:solidFill>
            <a:srgbClr val="0A0514">
              <a:alpha val="60000"/>
            </a:srgbClr>
          </a:solidFill>
          <a:ln w="14288">
            <a:solidFill>
              <a:srgbClr val="FFD27A">
                <a:alpha val="35000"/>
              </a:srgbClr>
            </a:solidFill>
            <a:prstDash val="solid"/>
          </a:ln>
          <a:effectLst>
            <a:outerShdw sx="100000" sy="100000" kx="0" ky="0" algn="bl" rotWithShape="0" blurRad="171450" dist="50800" dir="16200000">
              <a:srgbClr val="B850FF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3379500" y="5372510"/>
            <a:ext cx="54292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❋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3256270" y="5986872"/>
            <a:ext cx="78953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54" kern="0" dirty="0">
                <a:solidFill>
                  <a:srgbClr val="F8EFFF">
                    <a:alpha val="8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撮影効果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3160573" y="6377397"/>
            <a:ext cx="105697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GLOW · SHAKE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15768340" y="4901022"/>
            <a:ext cx="3482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07</a:t>
            </a:r>
            <a:endParaRPr lang="en-US" sz="2550" dirty="0"/>
          </a:p>
        </p:txBody>
      </p:sp>
      <p:sp>
        <p:nvSpPr>
          <p:cNvPr id="40" name="Shape 38"/>
          <p:cNvSpPr/>
          <p:nvPr/>
        </p:nvSpPr>
        <p:spPr>
          <a:xfrm>
            <a:off x="15656719" y="5358208"/>
            <a:ext cx="495300" cy="495300"/>
          </a:xfrm>
          <a:prstGeom prst="ellipse">
            <a:avLst/>
          </a:prstGeom>
          <a:solidFill>
            <a:srgbClr val="0A0514">
              <a:alpha val="60000"/>
            </a:srgbClr>
          </a:solidFill>
          <a:ln w="14288">
            <a:solidFill>
              <a:srgbClr val="FFD27A">
                <a:alpha val="35000"/>
              </a:srgbClr>
            </a:solidFill>
            <a:prstDash val="solid"/>
          </a:ln>
          <a:effectLst>
            <a:outerShdw sx="100000" sy="100000" kx="0" ky="0" algn="bl" rotWithShape="0" blurRad="171450" dist="50800" dir="16200000">
              <a:srgbClr val="B850FF">
                <a:alpha val="2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5632906" y="5372496"/>
            <a:ext cx="54292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▶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5509677" y="5986858"/>
            <a:ext cx="78953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54" kern="0" dirty="0">
                <a:solidFill>
                  <a:srgbClr val="F8EFFF">
                    <a:alpha val="8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書き出し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5659249" y="6377383"/>
            <a:ext cx="56658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EXPORT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5862489" y="7061363"/>
            <a:ext cx="76628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86" kern="0" dirty="0">
                <a:solidFill>
                  <a:srgbClr val="FFD27A">
                    <a:alpha val="99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本日は</a:t>
            </a:r>
            <a:endParaRPr lang="en-US" sz="1725" dirty="0"/>
          </a:p>
        </p:txBody>
      </p:sp>
      <p:sp>
        <p:nvSpPr>
          <p:cNvPr id="45" name="Text 43"/>
          <p:cNvSpPr/>
          <p:nvPr/>
        </p:nvSpPr>
        <p:spPr>
          <a:xfrm>
            <a:off x="6724055" y="7061363"/>
            <a:ext cx="888355" cy="36195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16200000">
              <a:srgbClr val="5AE9FF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spc="86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 – 03</a:t>
            </a:r>
            <a:endParaRPr lang="en-US" sz="1725" dirty="0"/>
          </a:p>
        </p:txBody>
      </p:sp>
      <p:sp>
        <p:nvSpPr>
          <p:cNvPr id="46" name="Text 44"/>
          <p:cNvSpPr/>
          <p:nvPr/>
        </p:nvSpPr>
        <p:spPr>
          <a:xfrm>
            <a:off x="7707660" y="7061363"/>
            <a:ext cx="521263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86" kern="0" dirty="0">
                <a:solidFill>
                  <a:srgbClr val="FFD27A">
                    <a:alpha val="99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。素材と世界観という“すべての土台”をつくる。</a:t>
            </a:r>
            <a:endParaRPr lang="en-US" sz="1725" dirty="0"/>
          </a:p>
        </p:txBody>
      </p:sp>
      <p:sp>
        <p:nvSpPr>
          <p:cNvPr id="47" name="Shape 45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01 — 03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1654225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3232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GENERATE THE SONG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603959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SUNOで楽曲生成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603959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曲が決まらなければ、映像も決まらない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57300" y="5101076"/>
            <a:ext cx="78486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歌詞付き楽曲を生成する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555403" y="5672576"/>
            <a:ext cx="232648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曲調と世界観の一致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3977134" y="5682087"/>
            <a:ext cx="10763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が最重要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555403" y="6253587"/>
            <a:ext cx="8262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歌詞の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2476946" y="6244062"/>
            <a:ext cx="162490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“感情の流れ”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4197102" y="6253587"/>
            <a:ext cx="298621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は後でVコンテに反映する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555403" y="6825087"/>
            <a:ext cx="165118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A・B・サビの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3301901" y="6815562"/>
            <a:ext cx="57626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構造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3973413" y="6825087"/>
            <a:ext cx="232648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を意識して生成する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410700" y="3575309"/>
            <a:ext cx="7620000" cy="3505200"/>
          </a:xfrm>
          <a:prstGeom prst="roundRect">
            <a:avLst>
              <a:gd name="adj" fmla="val 1630"/>
            </a:avLst>
          </a:prstGeom>
          <a:solidFill>
            <a:srgbClr val="080410">
              <a:alpha val="60000"/>
            </a:srgbClr>
          </a:solidFill>
          <a:ln w="9525">
            <a:solidFill>
              <a:srgbClr val="B58EFF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44075" y="4518284"/>
            <a:ext cx="6953250" cy="9525"/>
          </a:xfrm>
          <a:prstGeom prst="rect">
            <a:avLst/>
          </a:prstGeom>
          <a:solidFill>
            <a:srgbClr val="B58EFF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744075" y="4127759"/>
            <a:ext cx="6753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79" kern="0" dirty="0">
                <a:solidFill>
                  <a:srgbClr val="B58EFF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TITLE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14925675" y="4003934"/>
            <a:ext cx="18478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4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744075" y="5165985"/>
            <a:ext cx="6953250" cy="9525"/>
          </a:xfrm>
          <a:prstGeom prst="rect">
            <a:avLst/>
          </a:prstGeom>
          <a:solidFill>
            <a:srgbClr val="B58EFF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744075" y="4775459"/>
            <a:ext cx="6753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79" kern="0" dirty="0">
                <a:solidFill>
                  <a:srgbClr val="B58EFF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GENRE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13707219" y="4680209"/>
            <a:ext cx="307980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エレクトロニック × ロック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744075" y="5813685"/>
            <a:ext cx="6953250" cy="9525"/>
          </a:xfrm>
          <a:prstGeom prst="rect">
            <a:avLst/>
          </a:prstGeom>
          <a:solidFill>
            <a:srgbClr val="B58EFF">
              <a:alpha val="1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744075" y="5423160"/>
            <a:ext cx="6753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79" kern="0" dirty="0">
                <a:solidFill>
                  <a:srgbClr val="B58EFF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VOCAL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15389721" y="5327910"/>
            <a:ext cx="1383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744075" y="6337511"/>
            <a:ext cx="43576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79" kern="0" dirty="0">
                <a:solidFill>
                  <a:srgbClr val="B58EFF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BPM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15740509" y="5975561"/>
            <a:ext cx="1033016" cy="714375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16200000">
              <a:srgbClr val="5AE9FF">
                <a:alpha val="5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spc="81" kern="0" dirty="0">
                <a:solidFill>
                  <a:srgbClr val="5AE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128</a:t>
            </a:r>
            <a:endParaRPr lang="en-US" sz="4050" dirty="0"/>
          </a:p>
        </p:txBody>
      </p:sp>
      <p:sp>
        <p:nvSpPr>
          <p:cNvPr id="30" name="Shape 28"/>
          <p:cNvSpPr/>
          <p:nvPr/>
        </p:nvSpPr>
        <p:spPr>
          <a:xfrm>
            <a:off x="9410700" y="7309061"/>
            <a:ext cx="7620000" cy="1419225"/>
          </a:xfrm>
          <a:prstGeom prst="rect">
            <a:avLst/>
          </a:prstGeom>
          <a:solidFill>
            <a:srgbClr val="FF4FA8">
              <a:alpha val="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410700" y="7309061"/>
            <a:ext cx="38100" cy="14192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32" name="Text 30"/>
          <p:cNvSpPr/>
          <p:nvPr/>
        </p:nvSpPr>
        <p:spPr>
          <a:xfrm>
            <a:off x="9772650" y="7575761"/>
            <a:ext cx="714222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“Light, and the deep sea.”</a:t>
            </a:r>
            <a:endParaRPr lang="en-US" sz="2850" dirty="0"/>
          </a:p>
        </p:txBody>
      </p:sp>
      <p:sp>
        <p:nvSpPr>
          <p:cNvPr id="33" name="Text 31"/>
          <p:cNvSpPr/>
          <p:nvPr/>
        </p:nvSpPr>
        <p:spPr>
          <a:xfrm>
            <a:off x="9772650" y="8099636"/>
            <a:ext cx="714222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spc="108" kern="0" dirty="0">
                <a:solidFill>
                  <a:srgbClr val="F8EFFF">
                    <a:alpha val="82000"/>
                  </a:srgbClr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光と深海のはざまで、わたしはわたしを選ぶ。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01 — 04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1654225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418291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GENERATE THE CHARACTER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8019675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GPTでキャラ生成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801967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立ち絵・表情差分・背景 — そして“良いプロンプト”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57300" y="4110356"/>
            <a:ext cx="3089225" cy="1276350"/>
          </a:xfrm>
          <a:prstGeom prst="roundRect">
            <a:avLst>
              <a:gd name="adj" fmla="val 4478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2575" y="4386581"/>
            <a:ext cx="26074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851422" y="4443731"/>
            <a:ext cx="59626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立ち絵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52575" y="4805681"/>
            <a:ext cx="25748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全身／バストアップ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17975" y="4110356"/>
            <a:ext cx="3089225" cy="1276350"/>
          </a:xfrm>
          <a:prstGeom prst="roundRect">
            <a:avLst>
              <a:gd name="adj" fmla="val 4478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3250" y="4386581"/>
            <a:ext cx="24720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098554" y="4443731"/>
            <a:ext cx="76962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表情差分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13250" y="4805681"/>
            <a:ext cx="25748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喜・悲・強・無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257300" y="5558143"/>
            <a:ext cx="3089225" cy="1276350"/>
          </a:xfrm>
          <a:prstGeom prst="roundRect">
            <a:avLst>
              <a:gd name="adj" fmla="val 4478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2575" y="5834368"/>
            <a:ext cx="2555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846213" y="5891518"/>
            <a:ext cx="42291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背景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552575" y="6253468"/>
            <a:ext cx="25748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抽象／街／ファンタジー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17975" y="5558143"/>
            <a:ext cx="3089225" cy="1276350"/>
          </a:xfrm>
          <a:prstGeom prst="roundRect">
            <a:avLst>
              <a:gd name="adj" fmla="val 4478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4FA8">
                <a:alpha val="40000"/>
              </a:srgbClr>
            </a:solidFill>
            <a:prstDash val="solid"/>
          </a:ln>
          <a:effectLst>
            <a:outerShdw sx="100000" sy="100000" kx="0" ky="0" algn="bl" rotWithShape="0" blurRad="247650" dist="50800" dir="16200000">
              <a:srgbClr val="FF4FA8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13250" y="5834368"/>
            <a:ext cx="27012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121473" y="5891518"/>
            <a:ext cx="59626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一貫性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13250" y="6253468"/>
            <a:ext cx="25748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同一キャラを保つ指示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257300" y="7024993"/>
            <a:ext cx="6349901" cy="1162050"/>
          </a:xfrm>
          <a:prstGeom prst="roundRect">
            <a:avLst>
              <a:gd name="adj" fmla="val 4918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14475" y="7244068"/>
            <a:ext cx="601061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良いプロンプトの5条件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514475" y="7567918"/>
            <a:ext cx="666750" cy="400050"/>
          </a:xfrm>
          <a:prstGeom prst="roundRect">
            <a:avLst>
              <a:gd name="adj" fmla="val 7143"/>
            </a:avLst>
          </a:prstGeom>
          <a:ln w="9525">
            <a:solidFill>
              <a:srgbClr val="B58EFF">
                <a:alpha val="2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76400" y="7653643"/>
            <a:ext cx="4191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B58EFF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性格</a:t>
            </a:r>
            <a:endParaRPr lang="en-US" sz="1125" dirty="0"/>
          </a:p>
        </p:txBody>
      </p:sp>
      <p:sp>
        <p:nvSpPr>
          <p:cNvPr id="29" name="Shape 27"/>
          <p:cNvSpPr/>
          <p:nvPr/>
        </p:nvSpPr>
        <p:spPr>
          <a:xfrm>
            <a:off x="2295525" y="7567918"/>
            <a:ext cx="666750" cy="400050"/>
          </a:xfrm>
          <a:prstGeom prst="roundRect">
            <a:avLst>
              <a:gd name="adj" fmla="val 7143"/>
            </a:avLst>
          </a:prstGeom>
          <a:ln w="9525">
            <a:solidFill>
              <a:srgbClr val="B58EFF">
                <a:alpha val="2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57450" y="7653643"/>
            <a:ext cx="4191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B58EFF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色調</a:t>
            </a:r>
            <a:endParaRPr lang="en-US" sz="1125" dirty="0"/>
          </a:p>
        </p:txBody>
      </p:sp>
      <p:sp>
        <p:nvSpPr>
          <p:cNvPr id="31" name="Shape 29"/>
          <p:cNvSpPr/>
          <p:nvPr/>
        </p:nvSpPr>
        <p:spPr>
          <a:xfrm>
            <a:off x="3076575" y="7567918"/>
            <a:ext cx="838200" cy="400050"/>
          </a:xfrm>
          <a:prstGeom prst="roundRect">
            <a:avLst>
              <a:gd name="adj" fmla="val 7143"/>
            </a:avLst>
          </a:prstGeom>
          <a:ln w="9525">
            <a:solidFill>
              <a:srgbClr val="B58EFF">
                <a:alpha val="28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38500" y="7653643"/>
            <a:ext cx="5905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B58EFF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世界観</a:t>
            </a:r>
            <a:endParaRPr lang="en-US" sz="1125" dirty="0"/>
          </a:p>
        </p:txBody>
      </p:sp>
      <p:sp>
        <p:nvSpPr>
          <p:cNvPr id="33" name="Shape 31"/>
          <p:cNvSpPr/>
          <p:nvPr/>
        </p:nvSpPr>
        <p:spPr>
          <a:xfrm>
            <a:off x="4029075" y="7567918"/>
            <a:ext cx="1181100" cy="400050"/>
          </a:xfrm>
          <a:prstGeom prst="roundRect">
            <a:avLst>
              <a:gd name="adj" fmla="val 7143"/>
            </a:avLst>
          </a:prstGeom>
          <a:ln w="9525">
            <a:solidFill>
              <a:srgbClr val="B58EFF">
                <a:alpha val="28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91000" y="7653643"/>
            <a:ext cx="9334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B58EFF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カメラ距離</a:t>
            </a:r>
            <a:endParaRPr lang="en-US" sz="1125" dirty="0"/>
          </a:p>
        </p:txBody>
      </p:sp>
      <p:sp>
        <p:nvSpPr>
          <p:cNvPr id="35" name="Shape 33"/>
          <p:cNvSpPr/>
          <p:nvPr/>
        </p:nvSpPr>
        <p:spPr>
          <a:xfrm>
            <a:off x="5324475" y="7567918"/>
            <a:ext cx="1352550" cy="400050"/>
          </a:xfrm>
          <a:prstGeom prst="roundRect">
            <a:avLst>
              <a:gd name="adj" fmla="val 7143"/>
            </a:avLst>
          </a:prstGeom>
          <a:ln w="9525">
            <a:solidFill>
              <a:srgbClr val="B58EFF">
                <a:alpha val="28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7653643"/>
            <a:ext cx="11049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B58EFF">
                    <a:alpha val="8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ライティング</a:t>
            </a:r>
            <a:endParaRPr lang="en-US" sz="1125" dirty="0"/>
          </a:p>
        </p:txBody>
      </p:sp>
      <p:sp>
        <p:nvSpPr>
          <p:cNvPr id="37" name="Shape 35"/>
          <p:cNvSpPr/>
          <p:nvPr/>
        </p:nvSpPr>
        <p:spPr>
          <a:xfrm>
            <a:off x="8140601" y="2927188"/>
            <a:ext cx="8890099" cy="6448425"/>
          </a:xfrm>
          <a:prstGeom prst="roundRect">
            <a:avLst>
              <a:gd name="adj" fmla="val 886"/>
            </a:avLst>
          </a:prstGeom>
          <a:solidFill>
            <a:srgbClr val="0B0518">
              <a:alpha val="99000"/>
            </a:srgbClr>
          </a:solidFill>
          <a:ln w="9525">
            <a:solidFill>
              <a:srgbClr val="FFD27A">
                <a:alpha val="28000"/>
              </a:srgbClr>
            </a:solidFill>
            <a:prstDash val="solid"/>
          </a:ln>
          <a:effectLst>
            <a:outerShdw sx="100000" sy="100000" kx="0" ky="0" algn="bl" rotWithShape="0" blurRad="381000" dist="50800" dir="16200000">
              <a:srgbClr val="B850FF">
                <a:alpha val="15808"/>
              </a:srgbClr>
            </a:outerShdw>
          </a:effectLst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50126" y="2936668"/>
            <a:ext cx="8871049" cy="6429375"/>
          </a:xfrm>
          <a:prstGeom prst="rect">
            <a:avLst/>
          </a:prstGeom>
        </p:spPr>
      </p:pic>
      <p:sp>
        <p:nvSpPr>
          <p:cNvPr id="39" name="Shape 36"/>
          <p:cNvSpPr/>
          <p:nvPr/>
        </p:nvSpPr>
        <p:spPr>
          <a:xfrm>
            <a:off x="8283476" y="3070018"/>
            <a:ext cx="1649760" cy="257175"/>
          </a:xfrm>
          <a:prstGeom prst="roundRect">
            <a:avLst>
              <a:gd name="adj" fmla="val 11111"/>
            </a:avLst>
          </a:prstGeom>
          <a:solidFill>
            <a:srgbClr val="0A0514">
              <a:alpha val="70000"/>
            </a:srgbClr>
          </a:solidFill>
          <a:ln w="9525">
            <a:solidFill>
              <a:srgbClr val="FFD27A">
                <a:alpha val="30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388251" y="3117643"/>
            <a:ext cx="151641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216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CHARACTER SHEET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8150126" y="8737393"/>
            <a:ext cx="8871049" cy="628650"/>
          </a:xfrm>
          <a:prstGeom prst="rect">
            <a:avLst/>
          </a:prstGeom>
          <a:solidFill>
            <a:srgbClr val="07030F">
              <a:alpha val="92000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8359676" y="9023143"/>
            <a:ext cx="871808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F8EFFF">
                    <a:alpha val="78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三面図・表情差分・カラーパレットまで1枚に — 設定図の作例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01 — 05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1654225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34223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WORLDVIEW · 4 AXES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6758227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世界観を決める4軸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675822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この4つが揃うと、MVの方向性が明確になる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57300" y="4729727"/>
            <a:ext cx="7743825" cy="1276350"/>
          </a:xfrm>
          <a:prstGeom prst="roundRect">
            <a:avLst>
              <a:gd name="adj" fmla="val 4478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4FA8">
                <a:alpha val="40000"/>
              </a:srgbClr>
            </a:solidFill>
            <a:prstDash val="solid"/>
          </a:ln>
          <a:effectLst>
            <a:outerShdw sx="100000" sy="100000" kx="0" ky="0" algn="bl" rotWithShape="0" blurRad="247650" dist="50800" dir="16200000">
              <a:srgbClr val="FF4FA8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52575" y="5005952"/>
            <a:ext cx="1649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55577" y="5063102"/>
            <a:ext cx="138303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COLOR — 色調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52575" y="5425052"/>
            <a:ext cx="736787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深い紫と青を基調に、光のプリズムとネオン。水の揺らめき・宝石の反射。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286875" y="4729727"/>
            <a:ext cx="7743825" cy="1276350"/>
          </a:xfrm>
          <a:prstGeom prst="roundRect">
            <a:avLst>
              <a:gd name="adj" fmla="val 4478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82150" y="5005952"/>
            <a:ext cx="1899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810155" y="5063102"/>
            <a:ext cx="22098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CHARACTER — キャラ性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582150" y="5425052"/>
            <a:ext cx="736787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ミステリアスで芯のある歌い手。観測者（あなた）に語りかける存在。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257300" y="6291827"/>
            <a:ext cx="7743825" cy="1276350"/>
          </a:xfrm>
          <a:prstGeom prst="roundRect">
            <a:avLst>
              <a:gd name="adj" fmla="val 4478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2575" y="6568035"/>
            <a:ext cx="184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774775" y="6625185"/>
            <a:ext cx="196977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EMOTION — 感情曲線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552575" y="6987135"/>
            <a:ext cx="736787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静かな語り → 上昇 → 解放。曲の起伏がそのまま映像の設計図になる。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286875" y="6291810"/>
            <a:ext cx="7743825" cy="1276350"/>
          </a:xfrm>
          <a:prstGeom prst="roundRect">
            <a:avLst>
              <a:gd name="adj" fmla="val 4478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82150" y="6568035"/>
            <a:ext cx="20821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828461" y="6625185"/>
            <a:ext cx="184975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SYMBOL — モチーフ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582150" y="6987135"/>
            <a:ext cx="736787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クラゲ・プリズム結晶・オルゴール・鍵。世界観を象徴する小物。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01 — 06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1654225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24759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EMOTION CURVE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6013683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感情曲線の作り方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601368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感情曲線は、Vコンテの“設計図”になる</a:t>
            </a:r>
            <a:endParaRPr lang="en-US" sz="22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3853273"/>
            <a:ext cx="15773400" cy="3429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257300" y="7456602"/>
            <a:ext cx="3786188" cy="990600"/>
          </a:xfrm>
          <a:prstGeom prst="roundRect">
            <a:avLst>
              <a:gd name="adj" fmla="val 5769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76375" y="7637577"/>
            <a:ext cx="663029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16200000">
              <a:srgbClr val="5AE9FF">
                <a:alpha val="5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5AE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メロ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476375" y="7961427"/>
            <a:ext cx="344847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静か・語り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253038" y="7456602"/>
            <a:ext cx="3786188" cy="990600"/>
          </a:xfrm>
          <a:prstGeom prst="roundRect">
            <a:avLst>
              <a:gd name="adj" fmla="val 5769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72113" y="7637577"/>
            <a:ext cx="66302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メロ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472113" y="7961380"/>
            <a:ext cx="344847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上昇・期待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9248775" y="7456555"/>
            <a:ext cx="3786188" cy="990600"/>
          </a:xfrm>
          <a:prstGeom prst="roundRect">
            <a:avLst>
              <a:gd name="adj" fmla="val 5769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4FA8">
                <a:alpha val="40000"/>
              </a:srgbClr>
            </a:solidFill>
            <a:prstDash val="solid"/>
          </a:ln>
          <a:effectLst>
            <a:outerShdw sx="100000" sy="100000" kx="0" ky="0" algn="bl" rotWithShape="0" blurRad="247650" dist="50800" dir="16200000">
              <a:srgbClr val="FF4FA8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467850" y="7637530"/>
            <a:ext cx="42297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サビ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467850" y="7961380"/>
            <a:ext cx="344847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解放・広がり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13244513" y="7456508"/>
            <a:ext cx="3786188" cy="990600"/>
          </a:xfrm>
          <a:prstGeom prst="roundRect">
            <a:avLst>
              <a:gd name="adj" fmla="val 5769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463588" y="7637483"/>
            <a:ext cx="42297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間奏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3463588" y="7961333"/>
            <a:ext cx="344847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余韻・転換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01 — 07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1654225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47533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REFERENCE BOARD · PUREREF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8689412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リファレンス構成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868941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4分類で組み、世界観を“視覚的に説明できる状態”にする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57300" y="3948581"/>
            <a:ext cx="6349901" cy="971550"/>
          </a:xfrm>
          <a:prstGeom prst="roundRect">
            <a:avLst>
              <a:gd name="adj" fmla="val 5882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2575" y="4224806"/>
            <a:ext cx="1649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55577" y="4281956"/>
            <a:ext cx="23431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COLOR PALETTE — 色調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257300" y="5091581"/>
            <a:ext cx="6349901" cy="971550"/>
          </a:xfrm>
          <a:prstGeom prst="roundRect">
            <a:avLst>
              <a:gd name="adj" fmla="val 5882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2575" y="5367806"/>
            <a:ext cx="1899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80580" y="5424956"/>
            <a:ext cx="274701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MOTION STYLE — モーション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257300" y="6234581"/>
            <a:ext cx="6349901" cy="971550"/>
          </a:xfrm>
          <a:prstGeom prst="roundRect">
            <a:avLst>
              <a:gd name="adj" fmla="val 5882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2575" y="6510806"/>
            <a:ext cx="184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774775" y="6567956"/>
            <a:ext cx="21564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TYPOGRAPHY — タイポ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257300" y="7377581"/>
            <a:ext cx="6349901" cy="971550"/>
          </a:xfrm>
          <a:prstGeom prst="roundRect">
            <a:avLst>
              <a:gd name="adj" fmla="val 5882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52575" y="7653806"/>
            <a:ext cx="20821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98886" y="7710956"/>
            <a:ext cx="246316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SPACE / LAYOUT — 空間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40601" y="3484970"/>
            <a:ext cx="8890099" cy="5334000"/>
          </a:xfrm>
          <a:prstGeom prst="roundRect">
            <a:avLst>
              <a:gd name="adj" fmla="val 1071"/>
            </a:avLst>
          </a:prstGeom>
          <a:solidFill>
            <a:srgbClr val="0B0518">
              <a:alpha val="99000"/>
            </a:srgbClr>
          </a:solidFill>
          <a:ln w="9525">
            <a:solidFill>
              <a:srgbClr val="FFD27A">
                <a:alpha val="28000"/>
              </a:srgbClr>
            </a:solidFill>
            <a:prstDash val="solid"/>
          </a:ln>
          <a:effectLst>
            <a:outerShdw sx="100000" sy="100000" kx="0" ky="0" algn="bl" rotWithShape="0" blurRad="381000" dist="50800" dir="16200000">
              <a:srgbClr val="B850FF">
                <a:alpha val="15769"/>
              </a:srgbClr>
            </a:outerShdw>
          </a:effectLst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50126" y="3494445"/>
            <a:ext cx="8871049" cy="531495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8283476" y="3627795"/>
            <a:ext cx="2513856" cy="257175"/>
          </a:xfrm>
          <a:prstGeom prst="roundRect">
            <a:avLst>
              <a:gd name="adj" fmla="val 11111"/>
            </a:avLst>
          </a:prstGeom>
          <a:solidFill>
            <a:srgbClr val="0A0514">
              <a:alpha val="70000"/>
            </a:srgbClr>
          </a:solidFill>
          <a:ln w="9525">
            <a:solidFill>
              <a:srgbClr val="FFD27A">
                <a:alpha val="3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88251" y="3675420"/>
            <a:ext cx="238050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216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IMAGE BOARD — DEEP PRISM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150126" y="8180745"/>
            <a:ext cx="8871049" cy="628650"/>
          </a:xfrm>
          <a:prstGeom prst="rect">
            <a:avLst/>
          </a:prstGeom>
          <a:solidFill>
            <a:srgbClr val="07030F">
              <a:alpha val="92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8359676" y="8466495"/>
            <a:ext cx="871808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F8EFFF">
                    <a:alpha val="78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楽曲情報・コンセプト・配色・モチーフ・ショットリストを1枚に集約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01 — 08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1654225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39927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READING THE REFERENCE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839187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リファレンスの読み解き方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839187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良いリファレンスは“理由”を説明できる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57300" y="4477174"/>
            <a:ext cx="685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076450" y="4534324"/>
            <a:ext cx="458438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なぜ、この色が合うのか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76450" y="4896274"/>
            <a:ext cx="45843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F8EFFF">
                    <a:alpha val="6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深海の沈黙と、プリズムの光。色は感情の温度を決める。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57300" y="5429674"/>
            <a:ext cx="685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076450" y="5486824"/>
            <a:ext cx="423824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なぜ、この構図が心地よいのか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76450" y="5848774"/>
            <a:ext cx="42382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F8EFFF">
                    <a:alpha val="6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視線の流れと余白。気持ちよさには必ず理由がある。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57300" y="6382174"/>
            <a:ext cx="685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076450" y="6439324"/>
            <a:ext cx="407958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なぜ、この動きが曲に合うのか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076450" y="6801274"/>
            <a:ext cx="407958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F8EFFF">
                    <a:alpha val="6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BPMと感情曲線への一致。動きは音の翻訳である。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600349" y="7485322"/>
            <a:ext cx="1456432" cy="36195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16200000">
              <a:srgbClr val="5AE9FF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spc="86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理由の言語化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3152031" y="7485322"/>
            <a:ext cx="307782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86" kern="0" dirty="0">
                <a:solidFill>
                  <a:srgbClr val="FFD27A">
                    <a:alpha val="99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こそ、プロのワークフロー。</a:t>
            </a:r>
            <a:endParaRPr lang="en-US" sz="1725" dirty="0"/>
          </a:p>
        </p:txBody>
      </p:sp>
      <p:sp>
        <p:nvSpPr>
          <p:cNvPr id="20" name="Shape 18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01 — 09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1654225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229133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FIND THE BPM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646697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SUNOのBPMを調べる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646697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次回の作業前に、必ずBPMを確認しておく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57300" y="5153449"/>
            <a:ext cx="5067300" cy="1581150"/>
          </a:xfrm>
          <a:prstGeom prst="roundRect">
            <a:avLst>
              <a:gd name="adj" fmla="val 3614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2575" y="5429660"/>
            <a:ext cx="1649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55577" y="5486810"/>
            <a:ext cx="111633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曲情報を見る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52575" y="5848760"/>
            <a:ext cx="461105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Sunoの曲ページにBPMが表示される場合がある。まずはここを確認。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610350" y="5153435"/>
            <a:ext cx="5067300" cy="1581150"/>
          </a:xfrm>
          <a:prstGeom prst="roundRect">
            <a:avLst>
              <a:gd name="adj" fmla="val 3614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5625" y="5429660"/>
            <a:ext cx="1899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133630" y="5486810"/>
            <a:ext cx="13563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AEで波形を読む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905625" y="5848760"/>
            <a:ext cx="461105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161" spc="54" kern="0" dirty="0">
                <a:solidFill>
                  <a:srgbClr val="FFD27A"/>
                </a:solidFill>
                <a:highlight>
                  <a:srgbClr val="FFD27A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オーディオをキーフレームに変換 </a:t>
            </a:r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波形の拍間隔を目視で測る。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1963400" y="5153421"/>
            <a:ext cx="5067300" cy="1581150"/>
          </a:xfrm>
          <a:prstGeom prst="roundRect">
            <a:avLst>
              <a:gd name="adj" fmla="val 3614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8675" y="5429646"/>
            <a:ext cx="184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480875" y="5486796"/>
            <a:ext cx="9429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解析ツール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2258675" y="5848746"/>
            <a:ext cx="461105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BPM Analyzer / Soundiiz などの無料ツールで自動解析する方法も有効。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600349" y="9037800"/>
            <a:ext cx="1226344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86" kern="0" dirty="0">
                <a:solidFill>
                  <a:srgbClr val="FFD27A">
                    <a:alpha val="99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数えた値は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2921943" y="9037800"/>
            <a:ext cx="996404" cy="36195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16200000">
              <a:srgbClr val="5AE9FF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spc="86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必ずメモ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4013597" y="9037800"/>
            <a:ext cx="478337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86" kern="0" dirty="0">
                <a:solidFill>
                  <a:srgbClr val="FFD27A">
                    <a:alpha val="99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 SESSION 02 の音同期がここから始まる。</a:t>
            </a:r>
            <a:endParaRPr lang="en-US" sz="1725" dirty="0"/>
          </a:p>
        </p:txBody>
      </p:sp>
      <p:sp>
        <p:nvSpPr>
          <p:cNvPr id="24" name="Shape 22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01 — 10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1654225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323224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WORKSHOP · 20 MIN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839187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ワーク：リファレンス構築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839187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20分で“方向性を1行で”まとめる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57300" y="5291562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5450" y="5253462"/>
            <a:ext cx="307061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GPTでキャラを</a:t>
            </a:r>
            <a:pPr algn="l" indent="0" marL="0">
              <a:buNone/>
            </a:pPr>
            <a:r>
              <a:rPr lang="en-US" sz="1800" b="1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1枚</a:t>
            </a:r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生成する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57300" y="5777337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5450" y="5739237"/>
            <a:ext cx="295962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Sunoで楽曲を</a:t>
            </a:r>
            <a:pPr algn="l" indent="0" marL="0">
              <a:buNone/>
            </a:pPr>
            <a:r>
              <a:rPr lang="en-US" sz="1800" b="1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1つ</a:t>
            </a:r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生成する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57300" y="6263112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5450" y="6225012"/>
            <a:ext cx="328062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PureRefで</a:t>
            </a:r>
            <a:pPr algn="l" indent="0" marL="0">
              <a:buNone/>
            </a:pPr>
            <a:r>
              <a:rPr lang="en-US" sz="1800" b="1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4分類ボード</a:t>
            </a:r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を作る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57300" y="6748872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5450" y="6710772"/>
            <a:ext cx="357663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世界観の方向性を</a:t>
            </a:r>
            <a:pPr algn="l" indent="0" marL="0">
              <a:buNone/>
            </a:pPr>
            <a:r>
              <a:rPr lang="en-US" sz="1800" b="1" spc="72" kern="0" dirty="0">
                <a:solidFill>
                  <a:srgbClr val="FF4FA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1行</a:t>
            </a:r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でまとめる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10700" y="5256423"/>
            <a:ext cx="7620000" cy="1790700"/>
          </a:xfrm>
          <a:prstGeom prst="rect">
            <a:avLst/>
          </a:prstGeom>
          <a:solidFill>
            <a:srgbClr val="FF4FA8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410700" y="5256423"/>
            <a:ext cx="38100" cy="1790700"/>
          </a:xfrm>
          <a:prstGeom prst="rect">
            <a:avLst/>
          </a:prstGeom>
          <a:solidFill>
            <a:srgbClr val="FFD27A">
              <a:alpha val="99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772650" y="5523123"/>
            <a:ext cx="714222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“State it in one line.”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9772650" y="6046998"/>
            <a:ext cx="714222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spc="108" kern="0" dirty="0">
                <a:solidFill>
                  <a:srgbClr val="F8EFFF">
                    <a:alpha val="82000"/>
                  </a:srgbClr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夜のネオン × 切ない恋 × 疾走感のあるサビ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772650" y="6542298"/>
            <a:ext cx="714222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77" kern="0" dirty="0">
                <a:solidFill>
                  <a:srgbClr val="B58EFF">
                    <a:alpha val="7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 たった1行で世界観が伝われば、設計は成功している。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01 — 11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7030F">
              <a:alpha val="94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257300" y="3171825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623120" y="3271838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7" name="Text 4"/>
          <p:cNvSpPr/>
          <p:nvPr/>
        </p:nvSpPr>
        <p:spPr>
          <a:xfrm>
            <a:off x="2289870" y="3152775"/>
            <a:ext cx="285236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HOMEWORK → NEXT</a:t>
            </a:r>
            <a:endParaRPr lang="en-US" sz="1425" dirty="0"/>
          </a:p>
        </p:txBody>
      </p:sp>
      <p:sp>
        <p:nvSpPr>
          <p:cNvPr id="8" name="Shape 5"/>
          <p:cNvSpPr/>
          <p:nvPr/>
        </p:nvSpPr>
        <p:spPr>
          <a:xfrm>
            <a:off x="1257300" y="3609975"/>
            <a:ext cx="15773400" cy="714375"/>
          </a:xfrm>
          <a:prstGeom prst="rect">
            <a:avLst/>
          </a:prstGeom>
          <a:solidFill>
            <a:srgbClr val="FFE9B0"/>
          </a:solidFill>
          <a:ln/>
        </p:spPr>
      </p:sp>
      <p:sp>
        <p:nvSpPr>
          <p:cNvPr id="9" name="Text 6"/>
          <p:cNvSpPr/>
          <p:nvPr/>
        </p:nvSpPr>
        <p:spPr>
          <a:xfrm>
            <a:off x="1257300" y="3609975"/>
            <a:ext cx="16246602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6000" b="1" i="1" spc="-60" kern="0" dirty="0">
                <a:solidFill>
                  <a:srgbClr val="0000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宿題</a:t>
            </a:r>
            <a:endParaRPr lang="en-US" sz="6000" dirty="0"/>
          </a:p>
        </p:txBody>
      </p:sp>
      <p:sp>
        <p:nvSpPr>
          <p:cNvPr id="10" name="Shape 7"/>
          <p:cNvSpPr/>
          <p:nvPr/>
        </p:nvSpPr>
        <p:spPr>
          <a:xfrm>
            <a:off x="1257300" y="4686656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95450" y="4648556"/>
            <a:ext cx="229999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PureRefボード </a:t>
            </a:r>
            <a:pPr algn="l" indent="0" marL="0">
              <a:buNone/>
            </a:pPr>
            <a:r>
              <a:rPr lang="en-US" sz="1548" spc="72" kern="0" dirty="0">
                <a:solidFill>
                  <a:srgbClr val="FFD27A"/>
                </a:solidFill>
                <a:highlight>
                  <a:srgbClr val="FFD27A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PNG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257300" y="5172431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95450" y="5134318"/>
            <a:ext cx="293188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MVコンセプトシート </a:t>
            </a:r>
            <a:pPr algn="l" indent="0" marL="0">
              <a:buNone/>
            </a:pPr>
            <a:r>
              <a:rPr lang="en-US" sz="1548" spc="72" kern="0" dirty="0">
                <a:solidFill>
                  <a:srgbClr val="FFD27A"/>
                </a:solidFill>
                <a:highlight>
                  <a:srgbClr val="FFD27A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PDF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257300" y="5658193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695450" y="5620093"/>
            <a:ext cx="253260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GPT生成キャラ </a:t>
            </a:r>
            <a:pPr algn="l" indent="0" marL="0">
              <a:buNone/>
            </a:pPr>
            <a:r>
              <a:rPr lang="en-US" sz="1800" spc="72" kern="0" dirty="0">
                <a:solidFill>
                  <a:srgbClr val="B58E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1〜3枚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257300" y="6143968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95450" y="6105868"/>
            <a:ext cx="31946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Suno楽曲 1曲 ＋ </a:t>
            </a:r>
            <a:pPr algn="l" indent="0" marL="0">
              <a:buNone/>
            </a:pPr>
            <a:r>
              <a:rPr lang="en-US" sz="1800" b="1" spc="72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BPMをメモ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601837" y="6842053"/>
            <a:ext cx="260379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98" kern="0" dirty="0">
                <a:solidFill>
                  <a:srgbClr val="FFD27A">
                    <a:alpha val="99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— SESSION 02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4300984" y="6842053"/>
            <a:ext cx="4617491" cy="409575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16200000">
              <a:srgbClr val="5AE9FF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8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BPM解析とタイミング設計（音同期）</a:t>
            </a:r>
            <a:endParaRPr lang="en-US" sz="1950" dirty="0"/>
          </a:p>
        </p:txBody>
      </p:sp>
      <p:sp>
        <p:nvSpPr>
          <p:cNvPr id="20" name="Shape 17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01 — 12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2026-06-07T00:17:20Z</dcterms:created>
  <dcterms:modified xsi:type="dcterms:W3CDTF">2026-06-07T00:17:20Z</dcterms:modified>
</cp:coreProperties>
</file>