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257300" y="1733550"/>
            <a:ext cx="398532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DEEP PRISM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5279082" y="1852612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5" name="Text 3"/>
          <p:cNvSpPr/>
          <p:nvPr/>
        </p:nvSpPr>
        <p:spPr>
          <a:xfrm>
            <a:off x="5945832" y="1733550"/>
            <a:ext cx="380264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AE LYRIC MV WORKSHOP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1257300" y="2286000"/>
            <a:ext cx="9258300" cy="2286000"/>
          </a:xfrm>
          <a:prstGeom prst="rect">
            <a:avLst/>
          </a:prstGeom>
          <a:solidFill>
            <a:srgbClr val="FFE9B0"/>
          </a:solidFill>
          <a:ln/>
        </p:spPr>
      </p:sp>
      <p:sp>
        <p:nvSpPr>
          <p:cNvPr id="7" name="Text 5"/>
          <p:cNvSpPr/>
          <p:nvPr/>
        </p:nvSpPr>
        <p:spPr>
          <a:xfrm>
            <a:off x="1257300" y="2286000"/>
            <a:ext cx="9536049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2500" b="1" i="1" spc="-900" kern="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500" dirty="0"/>
          </a:p>
        </p:txBody>
      </p:sp>
      <p:sp>
        <p:nvSpPr>
          <p:cNvPr id="8" name="Shape 6"/>
          <p:cNvSpPr/>
          <p:nvPr/>
        </p:nvSpPr>
        <p:spPr>
          <a:xfrm>
            <a:off x="1257300" y="4629150"/>
            <a:ext cx="9258300" cy="1562100"/>
          </a:xfrm>
          <a:prstGeom prst="rect">
            <a:avLst/>
          </a:prstGeom>
          <a:solidFill>
            <a:srgbClr val="FFE9B0"/>
          </a:solidFill>
          <a:ln/>
        </p:spPr>
      </p:sp>
      <p:sp>
        <p:nvSpPr>
          <p:cNvPr id="9" name="Text 7"/>
          <p:cNvSpPr/>
          <p:nvPr/>
        </p:nvSpPr>
        <p:spPr>
          <a:xfrm>
            <a:off x="1257300" y="4629150"/>
            <a:ext cx="9536049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6600" b="1" i="1" spc="-6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STORYBOARD IN MOTION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1257300" y="6362700"/>
            <a:ext cx="9536049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324" kern="0" dirty="0">
                <a:solidFill>
                  <a:srgbClr val="F8EFFF">
                    <a:alpha val="92000"/>
                  </a:srgbClr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Vコンテ構築 — 構図・カメラ・レイアウト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257300" y="7115175"/>
            <a:ext cx="667131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5000"/>
              </a:lnSpc>
              <a:buNone/>
            </a:pPr>
            <a:r>
              <a:rPr lang="en-US" sz="1575" spc="95" kern="0" dirty="0">
                <a:solidFill>
                  <a:srgbClr val="F8EFFF">
                    <a:alpha val="74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楽曲全体を</a:t>
            </a:r>
            <a:pPr algn="l" indent="0" marL="0">
              <a:lnSpc>
                <a:spcPct val="195000"/>
              </a:lnSpc>
              <a:buNone/>
            </a:pPr>
            <a:r>
              <a:rPr lang="en-US" sz="1575" spc="95" kern="0" dirty="0">
                <a:solidFill>
                  <a:srgbClr val="5AE9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“映像の流れ” </a:t>
            </a:r>
            <a:pPr algn="l" indent="0" marL="0">
              <a:lnSpc>
                <a:spcPct val="195000"/>
              </a:lnSpc>
              <a:buNone/>
            </a:pPr>
            <a:r>
              <a:rPr lang="en-US" sz="1575" spc="95" kern="0" dirty="0">
                <a:solidFill>
                  <a:srgbClr val="F8EFFF">
                    <a:alpha val="74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として可視化する。 MVの“骨格”をここで完成させる。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1257300" y="8201025"/>
            <a:ext cx="1809750" cy="371475"/>
          </a:xfrm>
          <a:prstGeom prst="roundRect">
            <a:avLst>
              <a:gd name="adj" fmla="val 7692"/>
            </a:avLst>
          </a:prstGeom>
          <a:solidFill>
            <a:srgbClr val="FF4FA8"/>
          </a:solidFill>
          <a:ln/>
          <a:effectLst>
            <a:outerShdw sx="100000" sy="100000" kx="0" ky="0" algn="bl" rotWithShape="0" blurRad="133350" dist="50800" dir="16200000">
              <a:srgbClr val="FF4FA8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419225" y="8286750"/>
            <a:ext cx="15621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AFTER EFFECTS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3181350" y="8201025"/>
            <a:ext cx="1238250" cy="371475"/>
          </a:xfrm>
          <a:prstGeom prst="roundRect">
            <a:avLst>
              <a:gd name="adj" fmla="val 7692"/>
            </a:avLst>
          </a:prstGeom>
          <a:ln w="9525">
            <a:solidFill>
              <a:srgbClr val="FFD27A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43275" y="8286750"/>
            <a:ext cx="9906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PRE-COMP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4533900" y="8201025"/>
            <a:ext cx="1581150" cy="371475"/>
          </a:xfrm>
          <a:prstGeom prst="roundRect">
            <a:avLst>
              <a:gd name="adj" fmla="val 7692"/>
            </a:avLst>
          </a:prstGeom>
          <a:ln w="9525">
            <a:solidFill>
              <a:srgbClr val="FFD27A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95825" y="8286750"/>
            <a:ext cx="13335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CAMERA · 3D</a:t>
            </a:r>
            <a:endParaRPr lang="en-US" sz="1125" dirty="0"/>
          </a:p>
        </p:txBody>
      </p:sp>
      <p:sp>
        <p:nvSpPr>
          <p:cNvPr id="18" name="Shape 16"/>
          <p:cNvSpPr/>
          <p:nvPr/>
        </p:nvSpPr>
        <p:spPr>
          <a:xfrm>
            <a:off x="10515600" y="0"/>
            <a:ext cx="7772400" cy="10287000"/>
          </a:xfrm>
          <a:prstGeom prst="rect">
            <a:avLst/>
          </a:prstGeom>
          <a:solidFill>
            <a:srgbClr val="0B0518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0" y="0"/>
            <a:ext cx="7772400" cy="1028700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10515600" y="0"/>
            <a:ext cx="7772400" cy="10287000"/>
          </a:xfrm>
          <a:prstGeom prst="rect">
            <a:avLst/>
          </a:prstGeom>
          <a:solidFill>
            <a:srgbClr val="07030F"/>
          </a:solidFill>
          <a:ln/>
        </p:spPr>
      </p:sp>
      <p:sp>
        <p:nvSpPr>
          <p:cNvPr id="21" name="Shape 18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419100" y="9934575"/>
            <a:ext cx="163651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KINETIC STAGE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2112764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2293739" y="9934575"/>
            <a:ext cx="382933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VTUBER MUSIC VIDEO · AFTER EFFECTS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16068675" y="9934575"/>
            <a:ext cx="187642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03 / 06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-285750" y="5048250"/>
            <a:ext cx="2050256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i="1" spc="-1980" kern="0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</a:t>
            </a:r>
            <a:endParaRPr lang="en-US" sz="40000" dirty="0"/>
          </a:p>
        </p:txBody>
      </p:sp>
      <p:sp>
        <p:nvSpPr>
          <p:cNvPr id="4" name="Text 2"/>
          <p:cNvSpPr/>
          <p:nvPr/>
        </p:nvSpPr>
        <p:spPr>
          <a:xfrm>
            <a:off x="1257300" y="1009650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23120" y="1109663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6" name="Text 4"/>
          <p:cNvSpPr/>
          <p:nvPr/>
        </p:nvSpPr>
        <p:spPr>
          <a:xfrm>
            <a:off x="2289870" y="990600"/>
            <a:ext cx="247592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TODAY'S GOALS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257300" y="1390650"/>
            <a:ext cx="4195935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400" b="1" i="1" spc="-54" kern="0" dirty="0">
                <a:solidFill>
                  <a:srgbClr val="F8E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今日のゴール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57300" y="2105025"/>
            <a:ext cx="419593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15" kern="0" dirty="0">
                <a:solidFill>
                  <a:srgbClr val="B58E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MVの“骨格”を完成させる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555403" y="5110333"/>
            <a:ext cx="82629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楽曲を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2476946" y="5100808"/>
            <a:ext cx="182641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b="1" spc="94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セクションごと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4398615" y="5110333"/>
            <a:ext cx="182641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に映像化できる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555403" y="5681833"/>
            <a:ext cx="63485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AEで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2285554" y="5672308"/>
            <a:ext cx="157638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b="1" spc="94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プリコン構造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3957191" y="5681833"/>
            <a:ext cx="107632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を組める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555403" y="6253333"/>
            <a:ext cx="182641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カメラワーク（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3477071" y="6243808"/>
            <a:ext cx="20764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b="1" spc="94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寄り・引き・パン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5648771" y="6253333"/>
            <a:ext cx="232648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）を使い分けられる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555403" y="6815300"/>
            <a:ext cx="232648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b="1" spc="94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視線誘導と画面密度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3977134" y="6824825"/>
            <a:ext cx="1576388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を設計できる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10545514" y="3579062"/>
            <a:ext cx="6485186" cy="5143500"/>
          </a:xfrm>
          <a:prstGeom prst="roundRect">
            <a:avLst>
              <a:gd name="adj" fmla="val 1111"/>
            </a:avLst>
          </a:prstGeom>
          <a:solidFill>
            <a:srgbClr val="0B0518">
              <a:alpha val="99000"/>
            </a:srgbClr>
          </a:solidFill>
          <a:ln w="9525">
            <a:solidFill>
              <a:srgbClr val="FFD27A">
                <a:alpha val="28000"/>
              </a:srgbClr>
            </a:solidFill>
            <a:prstDash val="solid"/>
          </a:ln>
          <a:effectLst>
            <a:outerShdw sx="100000" sy="100000" kx="0" ky="0" algn="bl" rotWithShape="0" blurRad="381000" dist="50800" dir="16200000">
              <a:srgbClr val="B850FF">
                <a:alpha val="15843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555039" y="3588548"/>
            <a:ext cx="6466136" cy="5124450"/>
          </a:xfrm>
          <a:prstGeom prst="rect">
            <a:avLst/>
          </a:prstGeom>
          <a:solidFill>
            <a:srgbClr val="0B0518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55039" y="3588548"/>
            <a:ext cx="6466136" cy="512445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10688389" y="3721898"/>
            <a:ext cx="1553766" cy="257175"/>
          </a:xfrm>
          <a:prstGeom prst="roundRect">
            <a:avLst>
              <a:gd name="adj" fmla="val 11111"/>
            </a:avLst>
          </a:prstGeom>
          <a:solidFill>
            <a:srgbClr val="0A0514">
              <a:alpha val="70000"/>
            </a:srgbClr>
          </a:solidFill>
          <a:ln w="9525">
            <a:solidFill>
              <a:srgbClr val="FFD27A">
                <a:alpha val="3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793164" y="3769523"/>
            <a:ext cx="142041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216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LAYOUT — ROUGH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10555039" y="8084348"/>
            <a:ext cx="6466136" cy="628650"/>
          </a:xfrm>
          <a:prstGeom prst="rect">
            <a:avLst/>
          </a:prstGeom>
          <a:solidFill>
            <a:srgbClr val="07030F">
              <a:alpha val="92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10764589" y="8370098"/>
            <a:ext cx="624102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F8EFFF">
                    <a:alpha val="78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仮素材で画面構成を決める — まずは“流れ”をつくる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03 — 02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-285750" y="5048250"/>
            <a:ext cx="2050256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i="1" spc="-1980" kern="0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</a:t>
            </a:r>
            <a:endParaRPr lang="en-US" sz="40000" dirty="0"/>
          </a:p>
        </p:txBody>
      </p:sp>
      <p:sp>
        <p:nvSpPr>
          <p:cNvPr id="4" name="Text 2"/>
          <p:cNvSpPr/>
          <p:nvPr/>
        </p:nvSpPr>
        <p:spPr>
          <a:xfrm>
            <a:off x="1257300" y="1009650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23120" y="1109663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6" name="Text 4"/>
          <p:cNvSpPr/>
          <p:nvPr/>
        </p:nvSpPr>
        <p:spPr>
          <a:xfrm>
            <a:off x="2289870" y="990600"/>
            <a:ext cx="3232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IS A V-CONTE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257300" y="1390650"/>
            <a:ext cx="567092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400" b="1" i="1" spc="-54" kern="0" dirty="0">
                <a:solidFill>
                  <a:srgbClr val="F8E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Vコンテとは何か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57300" y="2105025"/>
            <a:ext cx="56709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15" kern="0" dirty="0">
                <a:solidFill>
                  <a:srgbClr val="B58E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“動く絵コンテ” — 完成映像の設計図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57300" y="4867744"/>
            <a:ext cx="78486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5000"/>
              </a:lnSpc>
              <a:buNone/>
            </a:pPr>
            <a:r>
              <a:rPr lang="en-US" sz="1875" spc="113" kern="0" dirty="0">
                <a:solidFill>
                  <a:srgbClr val="F8EFFF">
                    <a:alpha val="74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静止画の絵コンテと違い、</a:t>
            </a:r>
            <a:pPr algn="l" indent="0" marL="0">
              <a:lnSpc>
                <a:spcPct val="195000"/>
              </a:lnSpc>
              <a:buNone/>
            </a:pPr>
            <a:r>
              <a:rPr lang="en-US" sz="1875" spc="113" kern="0" dirty="0">
                <a:solidFill>
                  <a:srgbClr val="5AE9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時間・音・動き・カメラ </a:t>
            </a:r>
            <a:pPr algn="l" indent="0" marL="0">
              <a:lnSpc>
                <a:spcPct val="195000"/>
              </a:lnSpc>
              <a:buNone/>
            </a:pPr>
            <a:r>
              <a:rPr lang="en-US" sz="1875" spc="113" kern="0" dirty="0">
                <a:solidFill>
                  <a:srgbClr val="F8EFFF">
                    <a:alpha val="74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を含む。 MV制作では必須の工程。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1257300" y="6010744"/>
            <a:ext cx="7620000" cy="1419225"/>
          </a:xfrm>
          <a:prstGeom prst="rect">
            <a:avLst/>
          </a:prstGeom>
          <a:solidFill>
            <a:srgbClr val="FF4FA8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257300" y="6010744"/>
            <a:ext cx="38100" cy="14192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12" name="Text 10"/>
          <p:cNvSpPr/>
          <p:nvPr/>
        </p:nvSpPr>
        <p:spPr>
          <a:xfrm>
            <a:off x="1619250" y="6277444"/>
            <a:ext cx="714222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5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“If the skeleton is weak…”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1619250" y="6801319"/>
            <a:ext cx="714222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b="1" spc="108" kern="0" dirty="0">
                <a:solidFill>
                  <a:srgbClr val="F8EFFF">
                    <a:alpha val="82000"/>
                  </a:srgbClr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Vコンテが弱いと、後半の作業がすべて破綻する。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10700" y="5075645"/>
            <a:ext cx="3705225" cy="971550"/>
          </a:xfrm>
          <a:prstGeom prst="roundRect">
            <a:avLst>
              <a:gd name="adj" fmla="val 5882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16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05975" y="5351820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⏱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0125075" y="5408970"/>
            <a:ext cx="102298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時間 TIME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3325475" y="5075595"/>
            <a:ext cx="3705225" cy="971550"/>
          </a:xfrm>
          <a:prstGeom prst="roundRect">
            <a:avLst>
              <a:gd name="adj" fmla="val 5882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16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620750" y="5351820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♪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4039850" y="5408970"/>
            <a:ext cx="96964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音 SOUND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410700" y="6256695"/>
            <a:ext cx="3705225" cy="971550"/>
          </a:xfrm>
          <a:prstGeom prst="roundRect">
            <a:avLst>
              <a:gd name="adj" fmla="val 5882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16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05975" y="6532920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↗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0125075" y="6590070"/>
            <a:ext cx="126301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動き MOTION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3325475" y="6256695"/>
            <a:ext cx="3705225" cy="971550"/>
          </a:xfrm>
          <a:prstGeom prst="roundRect">
            <a:avLst>
              <a:gd name="adj" fmla="val 5882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4FA8">
                <a:alpha val="40000"/>
              </a:srgbClr>
            </a:solidFill>
            <a:prstDash val="solid"/>
          </a:ln>
          <a:effectLst>
            <a:outerShdw sx="100000" sy="100000" kx="0" ky="0" algn="bl" rotWithShape="0" blurRad="247650" dist="50800" dir="16200000">
              <a:srgbClr val="FF4FA8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3620750" y="6532920"/>
            <a:ext cx="33992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▣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3998773" y="6590070"/>
            <a:ext cx="143637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カメラ CAMERA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03 — 03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-285750" y="5048250"/>
            <a:ext cx="2050256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i="1" spc="-1980" kern="0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</a:t>
            </a:r>
            <a:endParaRPr lang="en-US" sz="40000" dirty="0"/>
          </a:p>
        </p:txBody>
      </p:sp>
      <p:sp>
        <p:nvSpPr>
          <p:cNvPr id="4" name="Text 2"/>
          <p:cNvSpPr/>
          <p:nvPr/>
        </p:nvSpPr>
        <p:spPr>
          <a:xfrm>
            <a:off x="1257300" y="1009650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23120" y="1109663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6" name="Text 4"/>
          <p:cNvSpPr/>
          <p:nvPr/>
        </p:nvSpPr>
        <p:spPr>
          <a:xfrm>
            <a:off x="2289870" y="990600"/>
            <a:ext cx="3232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BREAKDOWN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257300" y="1390650"/>
            <a:ext cx="6993225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400" b="1" i="1" spc="-54" kern="0" dirty="0">
                <a:solidFill>
                  <a:srgbClr val="F8E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楽曲のセクション分解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57300" y="2105025"/>
            <a:ext cx="699322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15" kern="0" dirty="0">
                <a:solidFill>
                  <a:srgbClr val="B58E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映像化の第一歩は“曲の構造理解”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257300" y="5325023"/>
            <a:ext cx="15773400" cy="914400"/>
          </a:xfrm>
          <a:prstGeom prst="roundRect">
            <a:avLst>
              <a:gd name="adj" fmla="val 6250"/>
            </a:avLst>
          </a:prstGeom>
          <a:ln w="9525">
            <a:solidFill>
              <a:srgbClr val="FFD27A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66825" y="5334548"/>
            <a:ext cx="2023170" cy="895350"/>
          </a:xfrm>
          <a:prstGeom prst="rect">
            <a:avLst/>
          </a:prstGeom>
          <a:solidFill>
            <a:srgbClr val="1A3A52"/>
          </a:solidFill>
          <a:ln/>
        </p:spPr>
      </p:sp>
      <p:sp>
        <p:nvSpPr>
          <p:cNvPr id="11" name="Shape 9"/>
          <p:cNvSpPr/>
          <p:nvPr/>
        </p:nvSpPr>
        <p:spPr>
          <a:xfrm>
            <a:off x="3280470" y="5334548"/>
            <a:ext cx="9525" cy="895350"/>
          </a:xfrm>
          <a:prstGeom prst="rect">
            <a:avLst/>
          </a:prstGeom>
          <a:solidFill>
            <a:srgbClr val="07030F">
              <a:alpha val="5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873597" y="5534573"/>
            <a:ext cx="8763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イントロ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069306" y="5877473"/>
            <a:ext cx="48488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FFFFFF">
                    <a:alpha val="7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INTRO</a:t>
            </a:r>
            <a:endParaRPr lang="en-US" sz="825" dirty="0"/>
          </a:p>
        </p:txBody>
      </p:sp>
      <p:sp>
        <p:nvSpPr>
          <p:cNvPr id="14" name="Shape 12"/>
          <p:cNvSpPr/>
          <p:nvPr/>
        </p:nvSpPr>
        <p:spPr>
          <a:xfrm>
            <a:off x="3289995" y="5334531"/>
            <a:ext cx="2828627" cy="895350"/>
          </a:xfrm>
          <a:prstGeom prst="rect">
            <a:avLst/>
          </a:prstGeom>
          <a:solidFill>
            <a:srgbClr val="243A6E"/>
          </a:solidFill>
          <a:ln/>
        </p:spPr>
      </p:sp>
      <p:sp>
        <p:nvSpPr>
          <p:cNvPr id="15" name="Shape 13"/>
          <p:cNvSpPr/>
          <p:nvPr/>
        </p:nvSpPr>
        <p:spPr>
          <a:xfrm>
            <a:off x="6109097" y="5334531"/>
            <a:ext cx="9525" cy="895350"/>
          </a:xfrm>
          <a:prstGeom prst="rect">
            <a:avLst/>
          </a:prstGeom>
          <a:solidFill>
            <a:srgbClr val="07030F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433590" y="5534556"/>
            <a:ext cx="60796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Aメロ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495205" y="5877456"/>
            <a:ext cx="48488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FFFFFF">
                    <a:alpha val="7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VERSE</a:t>
            </a:r>
            <a:endParaRPr lang="en-US" sz="825" dirty="0"/>
          </a:p>
        </p:txBody>
      </p:sp>
      <p:sp>
        <p:nvSpPr>
          <p:cNvPr id="18" name="Shape 16"/>
          <p:cNvSpPr/>
          <p:nvPr/>
        </p:nvSpPr>
        <p:spPr>
          <a:xfrm>
            <a:off x="6118622" y="5334531"/>
            <a:ext cx="2425898" cy="895350"/>
          </a:xfrm>
          <a:prstGeom prst="rect">
            <a:avLst/>
          </a:prstGeom>
          <a:solidFill>
            <a:srgbClr val="5A2C7A"/>
          </a:solidFill>
          <a:ln/>
        </p:spPr>
      </p:sp>
      <p:sp>
        <p:nvSpPr>
          <p:cNvPr id="19" name="Shape 17"/>
          <p:cNvSpPr/>
          <p:nvPr/>
        </p:nvSpPr>
        <p:spPr>
          <a:xfrm>
            <a:off x="8534995" y="5334531"/>
            <a:ext cx="9525" cy="895350"/>
          </a:xfrm>
          <a:prstGeom prst="rect">
            <a:avLst/>
          </a:prstGeom>
          <a:solidFill>
            <a:srgbClr val="07030F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057132" y="5534556"/>
            <a:ext cx="6155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Bメロ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204174" y="5877456"/>
            <a:ext cx="32146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FFFFFF">
                    <a:alpha val="7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</a:t>
            </a:r>
            <a:endParaRPr lang="en-US" sz="825" dirty="0"/>
          </a:p>
        </p:txBody>
      </p:sp>
      <p:sp>
        <p:nvSpPr>
          <p:cNvPr id="22" name="Shape 20"/>
          <p:cNvSpPr/>
          <p:nvPr/>
        </p:nvSpPr>
        <p:spPr>
          <a:xfrm>
            <a:off x="8544520" y="5334531"/>
            <a:ext cx="3231356" cy="895350"/>
          </a:xfrm>
          <a:prstGeom prst="rect">
            <a:avLst/>
          </a:prstGeom>
          <a:solidFill>
            <a:srgbClr val="B03A8A"/>
          </a:solidFill>
          <a:ln/>
        </p:spPr>
      </p:sp>
      <p:sp>
        <p:nvSpPr>
          <p:cNvPr id="23" name="Shape 21"/>
          <p:cNvSpPr/>
          <p:nvPr/>
        </p:nvSpPr>
        <p:spPr>
          <a:xfrm>
            <a:off x="11766352" y="5334531"/>
            <a:ext cx="9525" cy="895350"/>
          </a:xfrm>
          <a:prstGeom prst="rect">
            <a:avLst/>
          </a:prstGeom>
          <a:solidFill>
            <a:srgbClr val="07030F">
              <a:alpha val="5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9955411" y="5534556"/>
            <a:ext cx="4762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サビ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910167" y="5877456"/>
            <a:ext cx="56658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FFFFFF">
                    <a:alpha val="7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CHORUS</a:t>
            </a:r>
            <a:endParaRPr lang="en-US" sz="825" dirty="0"/>
          </a:p>
        </p:txBody>
      </p:sp>
      <p:sp>
        <p:nvSpPr>
          <p:cNvPr id="26" name="Shape 24"/>
          <p:cNvSpPr/>
          <p:nvPr/>
        </p:nvSpPr>
        <p:spPr>
          <a:xfrm>
            <a:off x="11775877" y="5334531"/>
            <a:ext cx="2023170" cy="895350"/>
          </a:xfrm>
          <a:prstGeom prst="rect">
            <a:avLst/>
          </a:prstGeom>
          <a:solidFill>
            <a:srgbClr val="3A2C6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789521" y="5334531"/>
            <a:ext cx="9525" cy="895350"/>
          </a:xfrm>
          <a:prstGeom prst="rect">
            <a:avLst/>
          </a:prstGeom>
          <a:solidFill>
            <a:srgbClr val="07030F">
              <a:alpha val="5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2582674" y="5534556"/>
            <a:ext cx="4762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間奏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2537430" y="5877456"/>
            <a:ext cx="56658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FFFFFF">
                    <a:alpha val="7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BRIDGE</a:t>
            </a:r>
            <a:endParaRPr lang="en-US" sz="825" dirty="0"/>
          </a:p>
        </p:txBody>
      </p:sp>
      <p:sp>
        <p:nvSpPr>
          <p:cNvPr id="30" name="Shape 28"/>
          <p:cNvSpPr/>
          <p:nvPr/>
        </p:nvSpPr>
        <p:spPr>
          <a:xfrm>
            <a:off x="13799046" y="5334531"/>
            <a:ext cx="3221831" cy="895350"/>
          </a:xfrm>
          <a:prstGeom prst="rect">
            <a:avLst/>
          </a:prstGeom>
          <a:solidFill>
            <a:srgbClr val="C93A7A"/>
          </a:solidFill>
          <a:ln/>
        </p:spPr>
      </p:sp>
      <p:sp>
        <p:nvSpPr>
          <p:cNvPr id="31" name="Text 29"/>
          <p:cNvSpPr/>
          <p:nvPr/>
        </p:nvSpPr>
        <p:spPr>
          <a:xfrm>
            <a:off x="14909899" y="5534556"/>
            <a:ext cx="107632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ラストサビ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5246400" y="5877456"/>
            <a:ext cx="40317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FFFFFF">
                    <a:alpha val="7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LAST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1600349" y="6637949"/>
            <a:ext cx="1686401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86" kern="0" dirty="0">
                <a:solidFill>
                  <a:srgbClr val="FFD27A">
                    <a:alpha val="98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各セクションの</a:t>
            </a:r>
            <a:endParaRPr lang="en-US" sz="1725" dirty="0"/>
          </a:p>
        </p:txBody>
      </p:sp>
      <p:sp>
        <p:nvSpPr>
          <p:cNvPr id="34" name="Text 32"/>
          <p:cNvSpPr/>
          <p:nvPr/>
        </p:nvSpPr>
        <p:spPr>
          <a:xfrm>
            <a:off x="3382119" y="6637949"/>
            <a:ext cx="810964" cy="361950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16200000">
              <a:srgbClr val="5AE9FF">
                <a:alpha val="4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spc="86" kern="0" dirty="0">
                <a:solidFill>
                  <a:srgbClr val="5AE9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“役割”</a:t>
            </a:r>
            <a:endParaRPr lang="en-US" sz="1725" dirty="0"/>
          </a:p>
        </p:txBody>
      </p:sp>
      <p:sp>
        <p:nvSpPr>
          <p:cNvPr id="35" name="Text 33"/>
          <p:cNvSpPr/>
          <p:nvPr/>
        </p:nvSpPr>
        <p:spPr>
          <a:xfrm>
            <a:off x="4288334" y="6637898"/>
            <a:ext cx="4497149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86" kern="0" dirty="0">
                <a:solidFill>
                  <a:srgbClr val="FFD27A">
                    <a:alpha val="98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を決めることが、映像化の出発点になる。</a:t>
            </a:r>
            <a:endParaRPr lang="en-US" sz="1725" dirty="0"/>
          </a:p>
        </p:txBody>
      </p:sp>
      <p:sp>
        <p:nvSpPr>
          <p:cNvPr id="36" name="Shape 34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03 — 04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-285750" y="5048250"/>
            <a:ext cx="2050256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i="1" spc="-1980" kern="0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</a:t>
            </a:r>
            <a:endParaRPr lang="en-US" sz="40000" dirty="0"/>
          </a:p>
        </p:txBody>
      </p:sp>
      <p:sp>
        <p:nvSpPr>
          <p:cNvPr id="4" name="Text 2"/>
          <p:cNvSpPr/>
          <p:nvPr/>
        </p:nvSpPr>
        <p:spPr>
          <a:xfrm>
            <a:off x="1257300" y="1009650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23120" y="1109663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6" name="Text 4"/>
          <p:cNvSpPr/>
          <p:nvPr/>
        </p:nvSpPr>
        <p:spPr>
          <a:xfrm>
            <a:off x="2289870" y="990600"/>
            <a:ext cx="34223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PRE-COMP STRUCTURE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257300" y="1390650"/>
            <a:ext cx="6993225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400" b="1" i="1" spc="-54" kern="0" dirty="0">
                <a:solidFill>
                  <a:srgbClr val="F8E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プリコン構造の作り方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57300" y="2105025"/>
            <a:ext cx="699322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15" kern="0" dirty="0">
                <a:solidFill>
                  <a:srgbClr val="B58E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プリコンは“フォルダ”ではなく“機能の単位”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257300" y="2924599"/>
            <a:ext cx="15773400" cy="5867400"/>
          </a:xfrm>
          <a:prstGeom prst="roundRect">
            <a:avLst>
              <a:gd name="adj" fmla="val 974"/>
            </a:avLst>
          </a:prstGeom>
          <a:solidFill>
            <a:srgbClr val="EFEAF7"/>
          </a:solidFill>
          <a:ln w="9525">
            <a:solidFill>
              <a:srgbClr val="FFD27A">
                <a:alpha val="28000"/>
              </a:srgbClr>
            </a:solidFill>
            <a:prstDash val="solid"/>
          </a:ln>
          <a:effectLst>
            <a:outerShdw sx="100000" sy="100000" kx="0" ky="0" algn="bl" rotWithShape="0" blurRad="381000" dist="50800" dir="16200000">
              <a:srgbClr val="B850FF">
                <a:alpha val="15973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266825" y="2934124"/>
            <a:ext cx="15754350" cy="5848350"/>
          </a:xfrm>
          <a:prstGeom prst="rect">
            <a:avLst/>
          </a:prstGeom>
          <a:solidFill>
            <a:srgbClr val="0B0518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66825" y="2934124"/>
            <a:ext cx="15754350" cy="584835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400175" y="3067474"/>
            <a:ext cx="4530179" cy="257175"/>
          </a:xfrm>
          <a:prstGeom prst="roundRect">
            <a:avLst>
              <a:gd name="adj" fmla="val 11111"/>
            </a:avLst>
          </a:prstGeom>
          <a:solidFill>
            <a:srgbClr val="0A0514">
              <a:alpha val="70000"/>
            </a:srgbClr>
          </a:solidFill>
          <a:ln w="9525">
            <a:solidFill>
              <a:srgbClr val="FFD27A">
                <a:alpha val="3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504950" y="3115099"/>
            <a:ext cx="445653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216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LAYER GUIDE — 00_MASTER / 01_BASE / 02_HAIR …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257300" y="9004560"/>
            <a:ext cx="1123950" cy="371475"/>
          </a:xfrm>
          <a:prstGeom prst="roundRect">
            <a:avLst>
              <a:gd name="adj" fmla="val 7692"/>
            </a:avLst>
          </a:prstGeom>
          <a:ln w="9525">
            <a:solidFill>
              <a:srgbClr val="FFD27A">
                <a:alpha val="4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419225" y="9090285"/>
            <a:ext cx="8763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SC_A_01</a:t>
            </a:r>
            <a:endParaRPr lang="en-US" sz="1125" dirty="0"/>
          </a:p>
        </p:txBody>
      </p:sp>
      <p:sp>
        <p:nvSpPr>
          <p:cNvPr id="16" name="Shape 13"/>
          <p:cNvSpPr/>
          <p:nvPr/>
        </p:nvSpPr>
        <p:spPr>
          <a:xfrm>
            <a:off x="2495550" y="9004511"/>
            <a:ext cx="1466850" cy="371475"/>
          </a:xfrm>
          <a:prstGeom prst="roundRect">
            <a:avLst>
              <a:gd name="adj" fmla="val 7692"/>
            </a:avLst>
          </a:prstGeom>
          <a:ln w="9525">
            <a:solidFill>
              <a:srgbClr val="FFD27A">
                <a:alpha val="4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657475" y="9090236"/>
            <a:ext cx="12192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SC_SABI_01</a:t>
            </a:r>
            <a:endParaRPr lang="en-US" sz="1125" dirty="0"/>
          </a:p>
        </p:txBody>
      </p:sp>
      <p:sp>
        <p:nvSpPr>
          <p:cNvPr id="18" name="Shape 15"/>
          <p:cNvSpPr/>
          <p:nvPr/>
        </p:nvSpPr>
        <p:spPr>
          <a:xfrm>
            <a:off x="4076700" y="9004511"/>
            <a:ext cx="1581150" cy="371475"/>
          </a:xfrm>
          <a:prstGeom prst="roundRect">
            <a:avLst>
              <a:gd name="adj" fmla="val 7692"/>
            </a:avLst>
          </a:prstGeom>
          <a:ln w="9525">
            <a:solidFill>
              <a:srgbClr val="FFD27A">
                <a:alpha val="4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238625" y="9090236"/>
            <a:ext cx="13335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TXT_SABI_01</a:t>
            </a:r>
            <a:endParaRPr lang="en-US" sz="1125" dirty="0"/>
          </a:p>
        </p:txBody>
      </p:sp>
      <p:sp>
        <p:nvSpPr>
          <p:cNvPr id="20" name="Shape 17"/>
          <p:cNvSpPr/>
          <p:nvPr/>
        </p:nvSpPr>
        <p:spPr>
          <a:xfrm>
            <a:off x="5772150" y="9004511"/>
            <a:ext cx="1123950" cy="371475"/>
          </a:xfrm>
          <a:prstGeom prst="roundRect">
            <a:avLst>
              <a:gd name="adj" fmla="val 7692"/>
            </a:avLst>
          </a:prstGeom>
          <a:ln w="9525">
            <a:solidFill>
              <a:srgbClr val="FFD27A">
                <a:alpha val="4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34075" y="9090236"/>
            <a:ext cx="8763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BG_MAIN</a:t>
            </a:r>
            <a:endParaRPr lang="en-US" sz="1125" dirty="0"/>
          </a:p>
        </p:txBody>
      </p:sp>
      <p:sp>
        <p:nvSpPr>
          <p:cNvPr id="22" name="Text 19"/>
          <p:cNvSpPr/>
          <p:nvPr/>
        </p:nvSpPr>
        <p:spPr>
          <a:xfrm>
            <a:off x="12948642" y="9028323"/>
            <a:ext cx="1686520" cy="361950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16200000">
              <a:srgbClr val="5AE9FF">
                <a:alpha val="4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spc="86" kern="0" dirty="0">
                <a:solidFill>
                  <a:srgbClr val="5AE9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役割が混ざると</a:t>
            </a:r>
            <a:endParaRPr lang="en-US" sz="1725" dirty="0"/>
          </a:p>
        </p:txBody>
      </p:sp>
      <p:sp>
        <p:nvSpPr>
          <p:cNvPr id="23" name="Text 20"/>
          <p:cNvSpPr/>
          <p:nvPr/>
        </p:nvSpPr>
        <p:spPr>
          <a:xfrm>
            <a:off x="14730413" y="9028323"/>
            <a:ext cx="2376488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86" kern="0" dirty="0">
                <a:solidFill>
                  <a:srgbClr val="FFD27A">
                    <a:alpha val="99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、後で必ず破綻する。</a:t>
            </a:r>
            <a:endParaRPr lang="en-US" sz="1725" dirty="0"/>
          </a:p>
        </p:txBody>
      </p:sp>
      <p:sp>
        <p:nvSpPr>
          <p:cNvPr id="24" name="Shape 21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03 — 05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-285750" y="5048250"/>
            <a:ext cx="2050256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i="1" spc="-1980" kern="0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</a:t>
            </a:r>
            <a:endParaRPr lang="en-US" sz="40000" dirty="0"/>
          </a:p>
        </p:txBody>
      </p:sp>
      <p:sp>
        <p:nvSpPr>
          <p:cNvPr id="4" name="Text 2"/>
          <p:cNvSpPr/>
          <p:nvPr/>
        </p:nvSpPr>
        <p:spPr>
          <a:xfrm>
            <a:off x="1257300" y="1009650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23120" y="1109663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6" name="Text 4"/>
          <p:cNvSpPr/>
          <p:nvPr/>
        </p:nvSpPr>
        <p:spPr>
          <a:xfrm>
            <a:off x="2289870" y="990600"/>
            <a:ext cx="304211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COMPOSITION · MV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257300" y="1390650"/>
            <a:ext cx="545493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400" b="1" i="1" spc="-54" kern="0" dirty="0">
                <a:solidFill>
                  <a:srgbClr val="F8E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構図の基本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57300" y="2105025"/>
            <a:ext cx="545493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15" kern="0" dirty="0">
                <a:solidFill>
                  <a:srgbClr val="B58E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構図は“視線誘導”のために存在する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555403" y="4815298"/>
            <a:ext cx="132635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b="1" spc="94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三分割構図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2977009" y="4824823"/>
            <a:ext cx="1576388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で主役を置く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257300" y="5386797"/>
            <a:ext cx="78486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主役の位置（キャラ or 歌詞）を決める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555403" y="5958297"/>
            <a:ext cx="57626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b="1" spc="94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余白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2226915" y="5967822"/>
            <a:ext cx="132635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を設計する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1555403" y="6539322"/>
            <a:ext cx="182641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キャラと歌詞の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3477071" y="6529797"/>
            <a:ext cx="157638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b="1" spc="94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重なりを回避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257300" y="7101297"/>
            <a:ext cx="78486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画面密度を調整する（詰めすぎない）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9410700" y="3827673"/>
            <a:ext cx="7620000" cy="4286250"/>
          </a:xfrm>
          <a:prstGeom prst="roundRect">
            <a:avLst>
              <a:gd name="adj" fmla="val 1333"/>
            </a:avLst>
          </a:prstGeom>
          <a:solidFill>
            <a:srgbClr val="B850FF">
              <a:alpha val="12000"/>
            </a:srgbClr>
          </a:solidFill>
          <a:ln w="9525">
            <a:solidFill>
              <a:srgbClr val="FFD27A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91652" y="6519676"/>
            <a:ext cx="323850" cy="323850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171450" dist="50800" dir="16200000">
              <a:srgbClr val="FF4FA8">
                <a:alpha val="7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4363105" y="5135575"/>
            <a:ext cx="247650" cy="247650"/>
          </a:xfrm>
          <a:prstGeom prst="ellipse">
            <a:avLst/>
          </a:prstGeom>
          <a:solidFill>
            <a:srgbClr val="5AE9FF">
              <a:alpha val="85000"/>
            </a:srgbClr>
          </a:solidFill>
          <a:ln/>
          <a:effectLst>
            <a:outerShdw sx="100000" sy="100000" kx="0" ky="0" algn="bl" rotWithShape="0" blurRad="133350" dist="50800" dir="16200000">
              <a:srgbClr val="5AE9FF">
                <a:alpha val="6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1472565" y="6948301"/>
            <a:ext cx="1037183" cy="238125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9525" dir="5400000">
              <a:srgbClr val="000000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主役 / キャラ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14348817" y="4954552"/>
            <a:ext cx="353616" cy="238125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9525" dir="5400000">
              <a:srgbClr val="000000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歌詞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9296400" y="8247225"/>
            <a:ext cx="78486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spc="293" kern="0" dirty="0">
                <a:solidFill>
                  <a:srgbClr val="B58EFF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RULE OF THIRDS — 視聴者が迷わない画面</a:t>
            </a:r>
            <a:endParaRPr lang="en-US" sz="1125" dirty="0"/>
          </a:p>
        </p:txBody>
      </p:sp>
      <p:sp>
        <p:nvSpPr>
          <p:cNvPr id="23" name="Shape 21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03 — 06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-285750" y="5048250"/>
            <a:ext cx="2050256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i="1" spc="-1980" kern="0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</a:t>
            </a:r>
            <a:endParaRPr lang="en-US" sz="40000" dirty="0"/>
          </a:p>
        </p:txBody>
      </p:sp>
      <p:sp>
        <p:nvSpPr>
          <p:cNvPr id="4" name="Text 2"/>
          <p:cNvSpPr/>
          <p:nvPr/>
        </p:nvSpPr>
        <p:spPr>
          <a:xfrm>
            <a:off x="1257300" y="1009650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23120" y="1109663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6" name="Text 4"/>
          <p:cNvSpPr/>
          <p:nvPr/>
        </p:nvSpPr>
        <p:spPr>
          <a:xfrm>
            <a:off x="2289870" y="990600"/>
            <a:ext cx="21067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CAMERA WORK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257300" y="1390650"/>
            <a:ext cx="6293903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400" b="1" i="1" spc="-54" kern="0" dirty="0">
                <a:solidFill>
                  <a:srgbClr val="F8E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カメラワークの基礎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57300" y="2105025"/>
            <a:ext cx="629390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15" kern="0" dirty="0">
                <a:solidFill>
                  <a:srgbClr val="B58E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カメラは“感情の方向”を示すツール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257300" y="5358394"/>
            <a:ext cx="5067300" cy="1581150"/>
          </a:xfrm>
          <a:prstGeom prst="roundRect">
            <a:avLst>
              <a:gd name="adj" fmla="val 3614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4FA8">
                <a:alpha val="40000"/>
              </a:srgbClr>
            </a:solidFill>
            <a:prstDash val="solid"/>
          </a:ln>
          <a:effectLst>
            <a:outerShdw sx="100000" sy="100000" kx="0" ky="0" algn="bl" rotWithShape="0" blurRad="247650" dist="50800" dir="16200000">
              <a:srgbClr val="FF4FA8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52575" y="5634602"/>
            <a:ext cx="16490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755577" y="5691752"/>
            <a:ext cx="17430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寄り — DOLLY IN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552575" y="6053702"/>
            <a:ext cx="461105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350" spc="54" kern="0" dirty="0">
                <a:solidFill>
                  <a:srgbClr val="F8EFFF">
                    <a:alpha val="66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感情の強調・サビの盛り上がり。近づくほど、気持ちが高まる。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610350" y="5358377"/>
            <a:ext cx="5067300" cy="1581150"/>
          </a:xfrm>
          <a:prstGeom prst="roundRect">
            <a:avLst>
              <a:gd name="adj" fmla="val 3614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16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5625" y="5634602"/>
            <a:ext cx="1899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133630" y="5691752"/>
            <a:ext cx="186309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引き — DOLLY OUT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905625" y="6053702"/>
            <a:ext cx="461105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350" spc="54" kern="0" dirty="0">
                <a:solidFill>
                  <a:srgbClr val="F8EFFF">
                    <a:alpha val="66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余韻・静けさ。世界の広がりと孤独を見せる。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1963400" y="5358377"/>
            <a:ext cx="5067300" cy="1581150"/>
          </a:xfrm>
          <a:prstGeom prst="roundRect">
            <a:avLst>
              <a:gd name="adj" fmla="val 3614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16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8675" y="5634602"/>
            <a:ext cx="1841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2480875" y="5691752"/>
            <a:ext cx="11430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パン — PAN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2258675" y="6053702"/>
            <a:ext cx="461105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350" spc="54" kern="0" dirty="0">
                <a:solidFill>
                  <a:srgbClr val="F8EFFF">
                    <a:alpha val="66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歌詞の流れ・視線誘導。左右の移動で物語を運ぶ。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03 — 07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-285750" y="5048250"/>
            <a:ext cx="2050256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i="1" spc="-1980" kern="0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</a:t>
            </a:r>
            <a:endParaRPr lang="en-US" sz="40000" dirty="0"/>
          </a:p>
        </p:txBody>
      </p:sp>
      <p:sp>
        <p:nvSpPr>
          <p:cNvPr id="4" name="Text 2"/>
          <p:cNvSpPr/>
          <p:nvPr/>
        </p:nvSpPr>
        <p:spPr>
          <a:xfrm>
            <a:off x="1257300" y="1009650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23120" y="1109663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6" name="Text 4"/>
          <p:cNvSpPr/>
          <p:nvPr/>
        </p:nvSpPr>
        <p:spPr>
          <a:xfrm>
            <a:off x="2289870" y="990600"/>
            <a:ext cx="266185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NULL PARENTING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257300" y="1390650"/>
            <a:ext cx="8902029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400" b="1" i="1" spc="-54" kern="0" dirty="0">
                <a:solidFill>
                  <a:srgbClr val="F8E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カメラ操作：ヌル親子構造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57300" y="2105025"/>
            <a:ext cx="890202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15" kern="0" dirty="0">
                <a:solidFill>
                  <a:srgbClr val="B58E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カメラは直接動かさない — プロの現場では100%この方法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257300" y="4777198"/>
            <a:ext cx="1690985" cy="819150"/>
          </a:xfrm>
          <a:prstGeom prst="roundRect">
            <a:avLst>
              <a:gd name="adj" fmla="val 5814"/>
            </a:avLst>
          </a:prstGeom>
          <a:solidFill>
            <a:srgbClr val="0A0514">
              <a:alpha val="50000"/>
            </a:srgbClr>
          </a:solidFill>
          <a:ln w="9525">
            <a:solidFill>
              <a:srgbClr val="5AE9FF">
                <a:alpha val="50000"/>
              </a:srgbClr>
            </a:solidFill>
            <a:prstDash val="solid"/>
          </a:ln>
          <a:effectLst>
            <a:outerShdw sx="100000" sy="100000" kx="0" ky="0" algn="bl" rotWithShape="0" blurRad="171450" dist="50800" dir="16200000">
              <a:srgbClr val="5AE9FF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438275" y="4939122"/>
            <a:ext cx="132903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spc="195" kern="0" dirty="0">
                <a:solidFill>
                  <a:srgbClr val="5AE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NULL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1438275" y="5148672"/>
            <a:ext cx="132903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spc="144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ヌルを動かす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043535" y="5182010"/>
            <a:ext cx="500003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13" name="Shape 11"/>
          <p:cNvSpPr/>
          <p:nvPr/>
        </p:nvSpPr>
        <p:spPr>
          <a:xfrm>
            <a:off x="8138815" y="4777198"/>
            <a:ext cx="1690985" cy="819150"/>
          </a:xfrm>
          <a:prstGeom prst="roundRect">
            <a:avLst>
              <a:gd name="adj" fmla="val 5814"/>
            </a:avLst>
          </a:prstGeom>
          <a:solidFill>
            <a:srgbClr val="0A0514">
              <a:alpha val="50000"/>
            </a:srgbClr>
          </a:solidFill>
          <a:ln w="9525">
            <a:solidFill>
              <a:srgbClr val="FFD27A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19790" y="4939122"/>
            <a:ext cx="132903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spc="19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CAMERA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8319790" y="5148672"/>
            <a:ext cx="132903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spc="144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安定した動き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55403" y="6085098"/>
            <a:ext cx="1956678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カメラ → ヌルに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3607445" y="6075573"/>
            <a:ext cx="107632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b="1" spc="94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親子付け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4779020" y="6085098"/>
            <a:ext cx="576263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する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555403" y="6608973"/>
            <a:ext cx="20764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b="1" spc="94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位置と回転を分離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3727103" y="6618498"/>
            <a:ext cx="82629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できる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555403" y="7151898"/>
            <a:ext cx="182641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複雑な動きでも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3477071" y="7142373"/>
            <a:ext cx="132635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b="1" spc="94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破綻しない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03 — 08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-285750" y="5048250"/>
            <a:ext cx="2050256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i="1" spc="-1980" kern="0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</a:t>
            </a:r>
            <a:endParaRPr lang="en-US" sz="40000" dirty="0"/>
          </a:p>
        </p:txBody>
      </p:sp>
      <p:sp>
        <p:nvSpPr>
          <p:cNvPr id="4" name="Text 2"/>
          <p:cNvSpPr/>
          <p:nvPr/>
        </p:nvSpPr>
        <p:spPr>
          <a:xfrm>
            <a:off x="1257300" y="1009650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23120" y="1109663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6" name="Text 4"/>
          <p:cNvSpPr/>
          <p:nvPr/>
        </p:nvSpPr>
        <p:spPr>
          <a:xfrm>
            <a:off x="2289870" y="990600"/>
            <a:ext cx="285198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GUIDING THE EYE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257300" y="1390650"/>
            <a:ext cx="4895258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400" b="1" i="1" spc="-54" kern="0" dirty="0">
                <a:solidFill>
                  <a:srgbClr val="F8E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視線誘導の設計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57300" y="2105025"/>
            <a:ext cx="489525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15" kern="0" dirty="0">
                <a:solidFill>
                  <a:srgbClr val="B58E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視聴者の“目線の流れ”を作る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57300" y="4553360"/>
            <a:ext cx="6858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076450" y="4610510"/>
            <a:ext cx="354014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キャラ → 歌詞 → キャラ の循環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076450" y="4972460"/>
            <a:ext cx="354014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350" dirty="0">
                <a:solidFill>
                  <a:srgbClr val="F8EFFF">
                    <a:alpha val="6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視線が自然に巡る回遊をつくる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257300" y="5429660"/>
            <a:ext cx="6858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076450" y="5486810"/>
            <a:ext cx="253990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左→右、上→下 の動線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076450" y="5848760"/>
            <a:ext cx="253990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350" dirty="0">
                <a:solidFill>
                  <a:srgbClr val="F8EFFF">
                    <a:alpha val="6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読む方向に沿わせると心地よい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257300" y="6305960"/>
            <a:ext cx="6858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2076450" y="6363110"/>
            <a:ext cx="291823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画面の“主役”を常に1つに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076450" y="6725060"/>
            <a:ext cx="291823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350" dirty="0">
                <a:solidFill>
                  <a:srgbClr val="F8EFFF">
                    <a:alpha val="6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情報量を増やしすぎない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600349" y="7409025"/>
            <a:ext cx="3781848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86" kern="0" dirty="0">
                <a:solidFill>
                  <a:srgbClr val="FFD27A">
                    <a:alpha val="99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視線誘導ができると、画面が一気に</a:t>
            </a:r>
            <a:endParaRPr lang="en-US" sz="1725" dirty="0"/>
          </a:p>
        </p:txBody>
      </p:sp>
      <p:sp>
        <p:nvSpPr>
          <p:cNvPr id="19" name="Text 17"/>
          <p:cNvSpPr/>
          <p:nvPr/>
        </p:nvSpPr>
        <p:spPr>
          <a:xfrm>
            <a:off x="5443538" y="7409025"/>
            <a:ext cx="1501080" cy="361950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16200000">
              <a:srgbClr val="5AE9FF">
                <a:alpha val="4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spc="86" kern="0" dirty="0">
                <a:solidFill>
                  <a:srgbClr val="5AE9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“プロっぽく”</a:t>
            </a:r>
            <a:endParaRPr lang="en-US" sz="1725" dirty="0"/>
          </a:p>
        </p:txBody>
      </p:sp>
      <p:sp>
        <p:nvSpPr>
          <p:cNvPr id="20" name="Text 18"/>
          <p:cNvSpPr/>
          <p:nvPr/>
        </p:nvSpPr>
        <p:spPr>
          <a:xfrm>
            <a:off x="7039868" y="7409025"/>
            <a:ext cx="766286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86" kern="0" dirty="0">
                <a:solidFill>
                  <a:srgbClr val="FFD27A">
                    <a:alpha val="99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なる。</a:t>
            </a:r>
            <a:endParaRPr lang="en-US" sz="1725" dirty="0"/>
          </a:p>
        </p:txBody>
      </p:sp>
      <p:sp>
        <p:nvSpPr>
          <p:cNvPr id="21" name="Shape 19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03 — 09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7030F">
              <a:alpha val="94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1257300" y="4048125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623120" y="4148137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7" name="Text 4"/>
          <p:cNvSpPr/>
          <p:nvPr/>
        </p:nvSpPr>
        <p:spPr>
          <a:xfrm>
            <a:off x="2289870" y="4029075"/>
            <a:ext cx="342238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LIVE DEMO · 30 SEC</a:t>
            </a:r>
            <a:endParaRPr lang="en-US" sz="1425" dirty="0"/>
          </a:p>
        </p:txBody>
      </p:sp>
      <p:sp>
        <p:nvSpPr>
          <p:cNvPr id="8" name="Shape 5"/>
          <p:cNvSpPr/>
          <p:nvPr/>
        </p:nvSpPr>
        <p:spPr>
          <a:xfrm>
            <a:off x="1257300" y="4486275"/>
            <a:ext cx="15773400" cy="657225"/>
          </a:xfrm>
          <a:prstGeom prst="rect">
            <a:avLst/>
          </a:prstGeom>
          <a:solidFill>
            <a:srgbClr val="FFE9B0"/>
          </a:solidFill>
          <a:ln/>
        </p:spPr>
      </p:sp>
      <p:sp>
        <p:nvSpPr>
          <p:cNvPr id="9" name="Text 6"/>
          <p:cNvSpPr/>
          <p:nvPr/>
        </p:nvSpPr>
        <p:spPr>
          <a:xfrm>
            <a:off x="1257300" y="4486275"/>
            <a:ext cx="1624660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550" b="1" i="1" spc="-55" kern="0" dirty="0">
                <a:solidFill>
                  <a:srgbClr val="0000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実演：30秒Vコンテ制作</a:t>
            </a:r>
            <a:endParaRPr lang="en-US" sz="5550" dirty="0"/>
          </a:p>
        </p:txBody>
      </p:sp>
      <p:sp>
        <p:nvSpPr>
          <p:cNvPr id="10" name="Text 7"/>
          <p:cNvSpPr/>
          <p:nvPr/>
        </p:nvSpPr>
        <p:spPr>
          <a:xfrm>
            <a:off x="1257300" y="5277233"/>
            <a:ext cx="804481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F8EFFF">
                    <a:alpha val="82000"/>
                  </a:srgbClr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完成形のイメージを共有する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257300" y="5937365"/>
            <a:ext cx="1352550" cy="400050"/>
          </a:xfrm>
          <a:prstGeom prst="roundRect">
            <a:avLst>
              <a:gd name="adj" fmla="val 7143"/>
            </a:avLst>
          </a:prstGeom>
          <a:ln w="9525">
            <a:solidFill>
              <a:srgbClr val="FFD27A">
                <a:alpha val="4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419225" y="6023090"/>
            <a:ext cx="11049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プリコン作成</a:t>
            </a:r>
            <a:endParaRPr lang="en-US" sz="1125" dirty="0"/>
          </a:p>
        </p:txBody>
      </p:sp>
      <p:sp>
        <p:nvSpPr>
          <p:cNvPr id="13" name="Shape 10"/>
          <p:cNvSpPr/>
          <p:nvPr/>
        </p:nvSpPr>
        <p:spPr>
          <a:xfrm>
            <a:off x="2743200" y="5937365"/>
            <a:ext cx="1352550" cy="400050"/>
          </a:xfrm>
          <a:prstGeom prst="roundRect">
            <a:avLst>
              <a:gd name="adj" fmla="val 7143"/>
            </a:avLst>
          </a:prstGeom>
          <a:ln w="9525">
            <a:solidFill>
              <a:srgbClr val="FFD27A">
                <a:alpha val="4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05125" y="6023090"/>
            <a:ext cx="11049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仮素材で構成</a:t>
            </a:r>
            <a:endParaRPr lang="en-US" sz="1125" dirty="0"/>
          </a:p>
        </p:txBody>
      </p:sp>
      <p:sp>
        <p:nvSpPr>
          <p:cNvPr id="15" name="Shape 12"/>
          <p:cNvSpPr/>
          <p:nvPr/>
        </p:nvSpPr>
        <p:spPr>
          <a:xfrm>
            <a:off x="4229100" y="5937365"/>
            <a:ext cx="1695450" cy="400050"/>
          </a:xfrm>
          <a:prstGeom prst="roundRect">
            <a:avLst>
              <a:gd name="adj" fmla="val 7143"/>
            </a:avLst>
          </a:prstGeom>
          <a:solidFill>
            <a:srgbClr val="FF4FA8"/>
          </a:solidFill>
          <a:ln/>
          <a:effectLst>
            <a:outerShdw sx="100000" sy="100000" kx="0" ky="0" algn="bl" rotWithShape="0" blurRad="133350" dist="50800" dir="16200000">
              <a:srgbClr val="FF4FA8">
                <a:alpha val="4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391025" y="6023090"/>
            <a:ext cx="14478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カメラワーク追加</a:t>
            </a:r>
            <a:endParaRPr lang="en-US" sz="1125" dirty="0"/>
          </a:p>
        </p:txBody>
      </p:sp>
      <p:sp>
        <p:nvSpPr>
          <p:cNvPr id="17" name="Shape 14"/>
          <p:cNvSpPr/>
          <p:nvPr/>
        </p:nvSpPr>
        <p:spPr>
          <a:xfrm>
            <a:off x="6057900" y="5937318"/>
            <a:ext cx="1524000" cy="400050"/>
          </a:xfrm>
          <a:prstGeom prst="roundRect">
            <a:avLst>
              <a:gd name="adj" fmla="val 7143"/>
            </a:avLst>
          </a:prstGeom>
          <a:ln w="9525">
            <a:solidFill>
              <a:srgbClr val="FFD27A">
                <a:alpha val="4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19825" y="6023043"/>
            <a:ext cx="12763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歌詞位置の調整</a:t>
            </a:r>
            <a:endParaRPr lang="en-US" sz="1125" dirty="0"/>
          </a:p>
        </p:txBody>
      </p:sp>
      <p:sp>
        <p:nvSpPr>
          <p:cNvPr id="19" name="Shape 16"/>
          <p:cNvSpPr/>
          <p:nvPr/>
        </p:nvSpPr>
        <p:spPr>
          <a:xfrm>
            <a:off x="7715250" y="5937318"/>
            <a:ext cx="1695450" cy="400050"/>
          </a:xfrm>
          <a:prstGeom prst="roundRect">
            <a:avLst>
              <a:gd name="adj" fmla="val 7143"/>
            </a:avLst>
          </a:prstGeom>
          <a:ln w="9525">
            <a:solidFill>
              <a:srgbClr val="FFD27A">
                <a:alpha val="4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877175" y="6023043"/>
            <a:ext cx="14478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画面密度を整える</a:t>
            </a:r>
            <a:endParaRPr lang="en-US" sz="1125" dirty="0"/>
          </a:p>
        </p:txBody>
      </p:sp>
      <p:sp>
        <p:nvSpPr>
          <p:cNvPr id="21" name="Shape 18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03 — 10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-285750" y="5048250"/>
            <a:ext cx="2050256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i="1" spc="-1980" kern="0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</a:t>
            </a:r>
            <a:endParaRPr lang="en-US" sz="40000" dirty="0"/>
          </a:p>
        </p:txBody>
      </p:sp>
      <p:sp>
        <p:nvSpPr>
          <p:cNvPr id="4" name="Text 2"/>
          <p:cNvSpPr/>
          <p:nvPr/>
        </p:nvSpPr>
        <p:spPr>
          <a:xfrm>
            <a:off x="1257300" y="1009650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23120" y="1109663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6" name="Text 4"/>
          <p:cNvSpPr/>
          <p:nvPr/>
        </p:nvSpPr>
        <p:spPr>
          <a:xfrm>
            <a:off x="2289870" y="990600"/>
            <a:ext cx="323224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WORKSHOP · 30 MIN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257300" y="1390650"/>
            <a:ext cx="6643564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400" b="1" i="1" spc="-54" kern="0" dirty="0">
                <a:solidFill>
                  <a:srgbClr val="F8E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ワーク：Vコンテ制作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57300" y="2105025"/>
            <a:ext cx="664356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15" kern="0" dirty="0">
                <a:solidFill>
                  <a:srgbClr val="B58E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30〜45秒 — 映像の“流れ”を作る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257300" y="5048781"/>
            <a:ext cx="266700" cy="266700"/>
          </a:xfrm>
          <a:prstGeom prst="roundRect">
            <a:avLst>
              <a:gd name="adj" fmla="val 14286"/>
            </a:avLst>
          </a:prstGeom>
          <a:ln w="14288">
            <a:solidFill>
              <a:srgbClr val="B58EF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95450" y="5010681"/>
            <a:ext cx="25146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Aメロ〜サビの</a:t>
            </a:r>
            <a:pPr algn="l" indent="0" marL="0">
              <a:buNone/>
            </a:pPr>
            <a:r>
              <a:rPr lang="en-US" sz="1800" b="1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Vコンテ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57300" y="5534540"/>
            <a:ext cx="266700" cy="266700"/>
          </a:xfrm>
          <a:prstGeom prst="roundRect">
            <a:avLst>
              <a:gd name="adj" fmla="val 14286"/>
            </a:avLst>
          </a:prstGeom>
          <a:ln w="14288">
            <a:solidFill>
              <a:srgbClr val="B58EFF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95450" y="5496440"/>
            <a:ext cx="221590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プリコン構造を組む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257300" y="6020315"/>
            <a:ext cx="266700" cy="266700"/>
          </a:xfrm>
          <a:prstGeom prst="roundRect">
            <a:avLst>
              <a:gd name="adj" fmla="val 14286"/>
            </a:avLst>
          </a:prstGeom>
          <a:ln w="14288">
            <a:solidFill>
              <a:srgbClr val="B58EFF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95450" y="5982215"/>
            <a:ext cx="258975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FF4FA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カメラワーク</a:t>
            </a:r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を1つ以上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257300" y="6506090"/>
            <a:ext cx="266700" cy="266700"/>
          </a:xfrm>
          <a:prstGeom prst="roundRect">
            <a:avLst>
              <a:gd name="adj" fmla="val 14286"/>
            </a:avLst>
          </a:prstGeom>
          <a:ln w="14288">
            <a:solidFill>
              <a:srgbClr val="B58EFF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95450" y="6467990"/>
            <a:ext cx="150271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歌詞の仮配置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257300" y="6991865"/>
            <a:ext cx="266700" cy="266700"/>
          </a:xfrm>
          <a:prstGeom prst="roundRect">
            <a:avLst>
              <a:gd name="adj" fmla="val 14286"/>
            </a:avLst>
          </a:prstGeom>
          <a:ln w="14288">
            <a:solidFill>
              <a:srgbClr val="B58EFF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95450" y="6953765"/>
            <a:ext cx="391816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マーカーに合わせたタイミング設計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410700" y="4704323"/>
            <a:ext cx="7620000" cy="2895600"/>
          </a:xfrm>
          <a:prstGeom prst="roundRect">
            <a:avLst>
              <a:gd name="adj" fmla="val 1974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16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05975" y="4980548"/>
            <a:ext cx="72403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講評ポイント — REVIEW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001696" y="5313872"/>
            <a:ext cx="67627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spc="75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構図の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773221" y="5304347"/>
            <a:ext cx="6762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b="1" spc="75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安定感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001696" y="5742497"/>
            <a:ext cx="8763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spc="75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カメラの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973246" y="5732972"/>
            <a:ext cx="4762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b="1" spc="75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意図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705975" y="6161597"/>
            <a:ext cx="72403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spc="75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視線誘導の自然さ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705975" y="6590222"/>
            <a:ext cx="72403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spc="75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画面密度のバランス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001696" y="7028372"/>
            <a:ext cx="1676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spc="75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セクションごとの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773346" y="7018847"/>
            <a:ext cx="4762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b="1" spc="75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役割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2344846" y="7028372"/>
            <a:ext cx="8763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spc="75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が明確か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03 — 11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7030F">
              <a:alpha val="94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1257300" y="3414713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623120" y="3514725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7" name="Text 4"/>
          <p:cNvSpPr/>
          <p:nvPr/>
        </p:nvSpPr>
        <p:spPr>
          <a:xfrm>
            <a:off x="2289870" y="3395663"/>
            <a:ext cx="285236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HOMEWORK → NEXT</a:t>
            </a:r>
            <a:endParaRPr lang="en-US" sz="1425" dirty="0"/>
          </a:p>
        </p:txBody>
      </p:sp>
      <p:sp>
        <p:nvSpPr>
          <p:cNvPr id="8" name="Shape 5"/>
          <p:cNvSpPr/>
          <p:nvPr/>
        </p:nvSpPr>
        <p:spPr>
          <a:xfrm>
            <a:off x="1257300" y="3852863"/>
            <a:ext cx="15773400" cy="714375"/>
          </a:xfrm>
          <a:prstGeom prst="rect">
            <a:avLst/>
          </a:prstGeom>
          <a:solidFill>
            <a:srgbClr val="FFE9B0"/>
          </a:solidFill>
          <a:ln/>
        </p:spPr>
      </p:sp>
      <p:sp>
        <p:nvSpPr>
          <p:cNvPr id="9" name="Text 6"/>
          <p:cNvSpPr/>
          <p:nvPr/>
        </p:nvSpPr>
        <p:spPr>
          <a:xfrm>
            <a:off x="1257300" y="3852863"/>
            <a:ext cx="16246602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6000" b="1" i="1" spc="-60" kern="0" dirty="0">
                <a:solidFill>
                  <a:srgbClr val="0000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宿題</a:t>
            </a:r>
            <a:endParaRPr lang="en-US" sz="6000" dirty="0"/>
          </a:p>
        </p:txBody>
      </p:sp>
      <p:sp>
        <p:nvSpPr>
          <p:cNvPr id="10" name="Shape 7"/>
          <p:cNvSpPr/>
          <p:nvPr/>
        </p:nvSpPr>
        <p:spPr>
          <a:xfrm>
            <a:off x="1257300" y="4929557"/>
            <a:ext cx="266700" cy="266700"/>
          </a:xfrm>
          <a:prstGeom prst="roundRect">
            <a:avLst>
              <a:gd name="adj" fmla="val 14286"/>
            </a:avLst>
          </a:prstGeom>
          <a:ln w="14288">
            <a:solidFill>
              <a:srgbClr val="B58EFF">
                <a:alpha val="4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95450" y="4891457"/>
            <a:ext cx="362491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楽曲全体のVコンテ（</a:t>
            </a:r>
            <a:pPr algn="l" indent="0" marL="0">
              <a:buNone/>
            </a:pPr>
            <a:r>
              <a:rPr lang="en-US" sz="1800" b="1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最低60秒</a:t>
            </a:r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257300" y="5415332"/>
            <a:ext cx="266700" cy="266700"/>
          </a:xfrm>
          <a:prstGeom prst="roundRect">
            <a:avLst>
              <a:gd name="adj" fmla="val 14286"/>
            </a:avLst>
          </a:prstGeom>
          <a:ln w="14288">
            <a:solidFill>
              <a:srgbClr val="B58EFF">
                <a:alpha val="4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695450" y="5377232"/>
            <a:ext cx="440778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プリコン構造の整理（</a:t>
            </a:r>
            <a:pPr algn="l" indent="0" marL="0">
              <a:buNone/>
            </a:pPr>
            <a:r>
              <a:rPr lang="en-US" sz="1800" b="1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命名規則を統一</a:t>
            </a:r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257300" y="5901093"/>
            <a:ext cx="266700" cy="266700"/>
          </a:xfrm>
          <a:prstGeom prst="roundRect">
            <a:avLst>
              <a:gd name="adj" fmla="val 14286"/>
            </a:avLst>
          </a:prstGeom>
          <a:ln w="14288">
            <a:solidFill>
              <a:srgbClr val="B58EFF">
                <a:alpha val="4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695450" y="5862993"/>
            <a:ext cx="35766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カメラワークを</a:t>
            </a:r>
            <a:pPr algn="l" indent="0" marL="0">
              <a:buNone/>
            </a:pPr>
            <a:r>
              <a:rPr lang="en-US" sz="1800" b="1" spc="72" kern="0" dirty="0">
                <a:solidFill>
                  <a:srgbClr val="5AE9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2箇所以上</a:t>
            </a:r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入れる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601837" y="6599258"/>
            <a:ext cx="2603797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98" kern="0" dirty="0">
                <a:solidFill>
                  <a:srgbClr val="FFD27A">
                    <a:alpha val="99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 — SESSION 04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4300984" y="6599258"/>
            <a:ext cx="4098747" cy="409575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16200000">
              <a:srgbClr val="5AE9FF">
                <a:alpha val="4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98" kern="0" dirty="0">
                <a:solidFill>
                  <a:srgbClr val="5AE9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パララックスと空間演出（2.5D）</a:t>
            </a:r>
            <a:endParaRPr lang="en-US" sz="1950" dirty="0"/>
          </a:p>
        </p:txBody>
      </p:sp>
      <p:sp>
        <p:nvSpPr>
          <p:cNvPr id="18" name="Shape 15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03 — 12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2026-06-07T02:23:11Z</dcterms:created>
  <dcterms:modified xsi:type="dcterms:W3CDTF">2026-06-07T02:23:11Z</dcterms:modified>
</cp:coreProperties>
</file>