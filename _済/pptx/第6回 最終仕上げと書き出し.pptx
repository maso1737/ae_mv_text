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B850FF">
              <a:alpha val="2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257300" y="1771650"/>
            <a:ext cx="398532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599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幽ヶ崎 海月 · DEEP PRISM</a:t>
            </a:r>
            <a:endParaRPr lang="en-US" sz="1425" dirty="0"/>
          </a:p>
        </p:txBody>
      </p:sp>
      <p:sp>
        <p:nvSpPr>
          <p:cNvPr id="4" name="Shape 2"/>
          <p:cNvSpPr/>
          <p:nvPr/>
        </p:nvSpPr>
        <p:spPr>
          <a:xfrm>
            <a:off x="5279082" y="1890713"/>
            <a:ext cx="514350" cy="9525"/>
          </a:xfrm>
          <a:prstGeom prst="rect">
            <a:avLst/>
          </a:prstGeom>
          <a:solidFill>
            <a:srgbClr val="FFD27A"/>
          </a:solidFill>
          <a:ln/>
        </p:spPr>
      </p:sp>
      <p:sp>
        <p:nvSpPr>
          <p:cNvPr id="5" name="Text 3"/>
          <p:cNvSpPr/>
          <p:nvPr/>
        </p:nvSpPr>
        <p:spPr>
          <a:xfrm>
            <a:off x="5945832" y="1771650"/>
            <a:ext cx="380264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599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AE LYRIC MV WORKSHOP</a:t>
            </a:r>
            <a:endParaRPr lang="en-US" sz="1425" dirty="0"/>
          </a:p>
        </p:txBody>
      </p:sp>
      <p:sp>
        <p:nvSpPr>
          <p:cNvPr id="6" name="Shape 4"/>
          <p:cNvSpPr/>
          <p:nvPr/>
        </p:nvSpPr>
        <p:spPr>
          <a:xfrm>
            <a:off x="1257300" y="2324100"/>
            <a:ext cx="9258300" cy="2286000"/>
          </a:xfrm>
          <a:prstGeom prst="rect">
            <a:avLst/>
          </a:prstGeom>
          <a:solidFill>
            <a:srgbClr val="FFE9B0"/>
          </a:solidFill>
          <a:ln/>
        </p:spPr>
      </p:sp>
      <p:sp>
        <p:nvSpPr>
          <p:cNvPr id="7" name="Text 5"/>
          <p:cNvSpPr/>
          <p:nvPr/>
        </p:nvSpPr>
        <p:spPr>
          <a:xfrm>
            <a:off x="1257300" y="2324100"/>
            <a:ext cx="9536049" cy="2324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2500" b="1" i="1" spc="-900" kern="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2500" dirty="0"/>
          </a:p>
        </p:txBody>
      </p:sp>
      <p:sp>
        <p:nvSpPr>
          <p:cNvPr id="8" name="Shape 6"/>
          <p:cNvSpPr/>
          <p:nvPr/>
        </p:nvSpPr>
        <p:spPr>
          <a:xfrm>
            <a:off x="1257300" y="4667250"/>
            <a:ext cx="9258300" cy="1485900"/>
          </a:xfrm>
          <a:prstGeom prst="rect">
            <a:avLst/>
          </a:prstGeom>
          <a:solidFill>
            <a:srgbClr val="FFE9B0"/>
          </a:solidFill>
          <a:ln/>
        </p:spPr>
      </p:sp>
      <p:sp>
        <p:nvSpPr>
          <p:cNvPr id="9" name="Text 7"/>
          <p:cNvSpPr/>
          <p:nvPr/>
        </p:nvSpPr>
        <p:spPr>
          <a:xfrm>
            <a:off x="1257300" y="4667250"/>
            <a:ext cx="9536049" cy="152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6300" b="1" i="1" spc="-63" kern="0" dirty="0">
                <a:solidFill>
                  <a:srgbClr val="0000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FINAL CUT &amp; EXPORT</a:t>
            </a:r>
            <a:endParaRPr lang="en-US" sz="6300" dirty="0"/>
          </a:p>
        </p:txBody>
      </p:sp>
      <p:sp>
        <p:nvSpPr>
          <p:cNvPr id="10" name="Text 8"/>
          <p:cNvSpPr/>
          <p:nvPr/>
        </p:nvSpPr>
        <p:spPr>
          <a:xfrm>
            <a:off x="1257300" y="6324600"/>
            <a:ext cx="9536049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spc="324" kern="0" dirty="0">
                <a:solidFill>
                  <a:srgbClr val="F8EFFF">
                    <a:alpha val="92000"/>
                  </a:srgbClr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最終仕上げと書き出し — YouTube最適化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1257300" y="7077075"/>
            <a:ext cx="667131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95000"/>
              </a:lnSpc>
              <a:buNone/>
            </a:pPr>
            <a:r>
              <a:rPr lang="en-US" sz="1575" spc="95" kern="0" dirty="0">
                <a:solidFill>
                  <a:srgbClr val="F8EFFF">
                    <a:alpha val="74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映像を</a:t>
            </a:r>
            <a:pPr algn="l" indent="0" marL="0">
              <a:lnSpc>
                <a:spcPct val="195000"/>
              </a:lnSpc>
              <a:buNone/>
            </a:pPr>
            <a:r>
              <a:rPr lang="en-US" sz="1575" spc="95" kern="0" dirty="0">
                <a:solidFill>
                  <a:srgbClr val="5AE9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“作品” </a:t>
            </a:r>
            <a:pPr algn="l" indent="0" marL="0">
              <a:lnSpc>
                <a:spcPct val="195000"/>
              </a:lnSpc>
              <a:buNone/>
            </a:pPr>
            <a:r>
              <a:rPr lang="en-US" sz="1575" spc="95" kern="0" dirty="0">
                <a:solidFill>
                  <a:srgbClr val="F8EFFF">
                    <a:alpha val="74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として完成させる。 色調・質感・構造を整え、公開に耐える完成形へ。</a:t>
            </a:r>
            <a:endParaRPr lang="en-US" sz="1575" dirty="0"/>
          </a:p>
        </p:txBody>
      </p:sp>
      <p:sp>
        <p:nvSpPr>
          <p:cNvPr id="12" name="Shape 10"/>
          <p:cNvSpPr/>
          <p:nvPr/>
        </p:nvSpPr>
        <p:spPr>
          <a:xfrm>
            <a:off x="1257300" y="8162925"/>
            <a:ext cx="1581150" cy="371475"/>
          </a:xfrm>
          <a:prstGeom prst="roundRect">
            <a:avLst>
              <a:gd name="adj" fmla="val 7692"/>
            </a:avLst>
          </a:prstGeom>
          <a:solidFill>
            <a:srgbClr val="FF4FA8"/>
          </a:solidFill>
          <a:ln/>
          <a:effectLst>
            <a:outerShdw sx="100000" sy="100000" kx="0" ky="0" algn="bl" rotWithShape="0" blurRad="133350" dist="50800" dir="16200000">
              <a:srgbClr val="FF4FA8">
                <a:alpha val="4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419225" y="8248650"/>
            <a:ext cx="13335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25" kern="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COLOR GRADE</a:t>
            </a:r>
            <a:endParaRPr lang="en-US" sz="1125" dirty="0"/>
          </a:p>
        </p:txBody>
      </p:sp>
      <p:sp>
        <p:nvSpPr>
          <p:cNvPr id="14" name="Shape 12"/>
          <p:cNvSpPr/>
          <p:nvPr/>
        </p:nvSpPr>
        <p:spPr>
          <a:xfrm>
            <a:off x="2952750" y="8162925"/>
            <a:ext cx="895350" cy="371475"/>
          </a:xfrm>
          <a:prstGeom prst="roundRect">
            <a:avLst>
              <a:gd name="adj" fmla="val 7692"/>
            </a:avLst>
          </a:prstGeom>
          <a:ln w="9525">
            <a:solidFill>
              <a:srgbClr val="FFD27A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14675" y="8248650"/>
            <a:ext cx="6477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2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GRAIN</a:t>
            </a:r>
            <a:endParaRPr lang="en-US" sz="1125" dirty="0"/>
          </a:p>
        </p:txBody>
      </p:sp>
      <p:sp>
        <p:nvSpPr>
          <p:cNvPr id="16" name="Shape 14"/>
          <p:cNvSpPr/>
          <p:nvPr/>
        </p:nvSpPr>
        <p:spPr>
          <a:xfrm>
            <a:off x="3962400" y="8162925"/>
            <a:ext cx="1809750" cy="371475"/>
          </a:xfrm>
          <a:prstGeom prst="roundRect">
            <a:avLst>
              <a:gd name="adj" fmla="val 7692"/>
            </a:avLst>
          </a:prstGeom>
          <a:ln w="9525">
            <a:solidFill>
              <a:srgbClr val="FFD27A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24325" y="8248650"/>
            <a:ext cx="15621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2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H.264 · THUMB</a:t>
            </a:r>
            <a:endParaRPr lang="en-US" sz="1125" dirty="0"/>
          </a:p>
        </p:txBody>
      </p:sp>
      <p:sp>
        <p:nvSpPr>
          <p:cNvPr id="18" name="Shape 16"/>
          <p:cNvSpPr/>
          <p:nvPr/>
        </p:nvSpPr>
        <p:spPr>
          <a:xfrm>
            <a:off x="10515600" y="0"/>
            <a:ext cx="7772400" cy="10287000"/>
          </a:xfrm>
          <a:prstGeom prst="rect">
            <a:avLst/>
          </a:prstGeom>
          <a:solidFill>
            <a:srgbClr val="05030D"/>
          </a:solidFill>
          <a:ln/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515600" y="0"/>
            <a:ext cx="7772400" cy="10287000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10515600" y="0"/>
            <a:ext cx="7772400" cy="10287000"/>
          </a:xfrm>
          <a:prstGeom prst="rect">
            <a:avLst/>
          </a:prstGeom>
          <a:solidFill>
            <a:srgbClr val="07030F"/>
          </a:solidFill>
          <a:ln/>
        </p:spPr>
      </p:sp>
      <p:sp>
        <p:nvSpPr>
          <p:cNvPr id="21" name="Shape 18"/>
          <p:cNvSpPr/>
          <p:nvPr/>
        </p:nvSpPr>
        <p:spPr>
          <a:xfrm>
            <a:off x="0" y="9753600"/>
            <a:ext cx="18288000" cy="533400"/>
          </a:xfrm>
          <a:prstGeom prst="rect">
            <a:avLst/>
          </a:prstGeom>
          <a:solidFill>
            <a:srgbClr val="FF4FA8">
              <a:alpha val="5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0" y="9753600"/>
            <a:ext cx="18288000" cy="9525"/>
          </a:xfrm>
          <a:prstGeom prst="rect">
            <a:avLst/>
          </a:prstGeom>
          <a:solidFill>
            <a:srgbClr val="FFD27A">
              <a:alpha val="13000"/>
            </a:srgbClr>
          </a:solidFill>
          <a:ln/>
        </p:spPr>
      </p:sp>
      <p:sp>
        <p:nvSpPr>
          <p:cNvPr id="23" name="Text 20"/>
          <p:cNvSpPr/>
          <p:nvPr/>
        </p:nvSpPr>
        <p:spPr>
          <a:xfrm>
            <a:off x="419100" y="9934575"/>
            <a:ext cx="1636514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KINETIC STAGE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2112764" y="10001250"/>
            <a:ext cx="47625" cy="47625"/>
          </a:xfrm>
          <a:prstGeom prst="ellipse">
            <a:avLst/>
          </a:prstGeom>
          <a:solidFill>
            <a:srgbClr val="FF4FA8"/>
          </a:solidFill>
          <a:ln/>
          <a:effectLst>
            <a:outerShdw sx="100000" sy="100000" kx="0" ky="0" algn="bl" rotWithShape="0" blurRad="76200" dist="50800" dir="16200000">
              <a:srgbClr val="FF4FA8">
                <a:alpha val="100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2293739" y="9934575"/>
            <a:ext cx="3829333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F8EFFF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VTUBER MUSIC VIDEO · AFTER EFFECTS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16068675" y="9934575"/>
            <a:ext cx="187642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 06 / 06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B850FF">
              <a:alpha val="2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-285750" y="5048250"/>
            <a:ext cx="2496592" cy="6324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750"/>
              </a:lnSpc>
              <a:buNone/>
            </a:pPr>
            <a:r>
              <a:rPr lang="en-US" sz="40000" b="1" i="1" spc="-1980" kern="0" dirty="0">
                <a:solidFill>
                  <a:srgbClr val="000000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6</a:t>
            </a:r>
            <a:endParaRPr lang="en-US" sz="40000" dirty="0"/>
          </a:p>
        </p:txBody>
      </p:sp>
      <p:sp>
        <p:nvSpPr>
          <p:cNvPr id="4" name="Text 2"/>
          <p:cNvSpPr/>
          <p:nvPr/>
        </p:nvSpPr>
        <p:spPr>
          <a:xfrm>
            <a:off x="1257300" y="1009650"/>
            <a:ext cx="289620" cy="24765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50800" dir="16200000">
              <a:srgbClr val="FF4FA8">
                <a:alpha val="5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FF4FA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623120" y="1109663"/>
            <a:ext cx="514350" cy="9525"/>
          </a:xfrm>
          <a:prstGeom prst="rect">
            <a:avLst/>
          </a:prstGeom>
          <a:solidFill>
            <a:srgbClr val="FFD27A"/>
          </a:solidFill>
          <a:ln/>
        </p:spPr>
      </p:sp>
      <p:sp>
        <p:nvSpPr>
          <p:cNvPr id="6" name="Text 4"/>
          <p:cNvSpPr/>
          <p:nvPr/>
        </p:nvSpPr>
        <p:spPr>
          <a:xfrm>
            <a:off x="2289870" y="990600"/>
            <a:ext cx="247592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599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TODAY'S GOALS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1257300" y="1390650"/>
            <a:ext cx="5635050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5400" b="1" i="1" spc="-54" kern="0" dirty="0">
                <a:solidFill>
                  <a:srgbClr val="F8E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今日のゴール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1257300" y="2105025"/>
            <a:ext cx="5635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315" kern="0" dirty="0">
                <a:solidFill>
                  <a:srgbClr val="B58E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MVとして公開できる“完成形”を作る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555403" y="4824695"/>
            <a:ext cx="1180391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75" spc="94" kern="0" dirty="0">
                <a:solidFill>
                  <a:srgbClr val="F8EFFF">
                    <a:alpha val="82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MV全体の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2831157" y="4815170"/>
            <a:ext cx="1326356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75" b="1" spc="94" kern="0" dirty="0">
                <a:solidFill>
                  <a:srgbClr val="F8E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色調を統一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4252764" y="4824695"/>
            <a:ext cx="826294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75" spc="94" kern="0" dirty="0">
                <a:solidFill>
                  <a:srgbClr val="F8EFFF">
                    <a:alpha val="82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できる</a:t>
            </a:r>
            <a:endParaRPr lang="en-US" sz="1875" dirty="0"/>
          </a:p>
        </p:txBody>
      </p:sp>
      <p:sp>
        <p:nvSpPr>
          <p:cNvPr id="12" name="Text 10"/>
          <p:cNvSpPr/>
          <p:nvPr/>
        </p:nvSpPr>
        <p:spPr>
          <a:xfrm>
            <a:off x="1555403" y="5386670"/>
            <a:ext cx="107632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75" b="1" spc="94" kern="0" dirty="0">
                <a:solidFill>
                  <a:srgbClr val="F8E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グレイン</a:t>
            </a:r>
            <a:endParaRPr lang="en-US" sz="1875" dirty="0"/>
          </a:p>
        </p:txBody>
      </p:sp>
      <p:sp>
        <p:nvSpPr>
          <p:cNvPr id="13" name="Text 11"/>
          <p:cNvSpPr/>
          <p:nvPr/>
        </p:nvSpPr>
        <p:spPr>
          <a:xfrm>
            <a:off x="2726978" y="5396195"/>
            <a:ext cx="2832854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75" spc="94" kern="0" dirty="0">
                <a:solidFill>
                  <a:srgbClr val="F8EFFF">
                    <a:alpha val="82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で素材を馴染ませられる</a:t>
            </a:r>
            <a:endParaRPr lang="en-US" sz="1875" dirty="0"/>
          </a:p>
        </p:txBody>
      </p:sp>
      <p:sp>
        <p:nvSpPr>
          <p:cNvPr id="14" name="Text 12"/>
          <p:cNvSpPr/>
          <p:nvPr/>
        </p:nvSpPr>
        <p:spPr>
          <a:xfrm>
            <a:off x="1555403" y="5958170"/>
            <a:ext cx="1326356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75" b="1" spc="94" kern="0" dirty="0">
                <a:solidFill>
                  <a:srgbClr val="F8E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最終コンポ</a:t>
            </a:r>
            <a:endParaRPr lang="en-US" sz="1875" dirty="0"/>
          </a:p>
        </p:txBody>
      </p:sp>
      <p:sp>
        <p:nvSpPr>
          <p:cNvPr id="15" name="Text 13"/>
          <p:cNvSpPr/>
          <p:nvPr/>
        </p:nvSpPr>
        <p:spPr>
          <a:xfrm>
            <a:off x="2977009" y="5967695"/>
            <a:ext cx="1826419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75" spc="94" kern="0" dirty="0">
                <a:solidFill>
                  <a:srgbClr val="F8EFFF">
                    <a:alpha val="82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を正しく組める</a:t>
            </a:r>
            <a:endParaRPr lang="en-US" sz="1875" dirty="0"/>
          </a:p>
        </p:txBody>
      </p:sp>
      <p:sp>
        <p:nvSpPr>
          <p:cNvPr id="16" name="Text 14"/>
          <p:cNvSpPr/>
          <p:nvPr/>
        </p:nvSpPr>
        <p:spPr>
          <a:xfrm>
            <a:off x="1555403" y="6539195"/>
            <a:ext cx="1860694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75" spc="94" kern="0" dirty="0">
                <a:solidFill>
                  <a:srgbClr val="F8EFFF">
                    <a:alpha val="82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YouTube向けの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3511451" y="6529670"/>
            <a:ext cx="157638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75" b="1" spc="94" kern="0" dirty="0">
                <a:solidFill>
                  <a:srgbClr val="F8E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書き出し設定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5183088" y="6539195"/>
            <a:ext cx="1076325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75" spc="94" kern="0" dirty="0">
                <a:solidFill>
                  <a:srgbClr val="F8EFFF">
                    <a:alpha val="82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ができる</a:t>
            </a:r>
            <a:endParaRPr lang="en-US" sz="1875" dirty="0"/>
          </a:p>
        </p:txBody>
      </p:sp>
      <p:sp>
        <p:nvSpPr>
          <p:cNvPr id="19" name="Text 17"/>
          <p:cNvSpPr/>
          <p:nvPr/>
        </p:nvSpPr>
        <p:spPr>
          <a:xfrm>
            <a:off x="1555403" y="7101170"/>
            <a:ext cx="1326356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75" b="1" spc="94" kern="0" dirty="0">
                <a:solidFill>
                  <a:srgbClr val="F8E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サムネイル</a:t>
            </a:r>
            <a:endParaRPr lang="en-US" sz="1875" dirty="0"/>
          </a:p>
        </p:txBody>
      </p:sp>
      <p:sp>
        <p:nvSpPr>
          <p:cNvPr id="20" name="Text 18"/>
          <p:cNvSpPr/>
          <p:nvPr/>
        </p:nvSpPr>
        <p:spPr>
          <a:xfrm>
            <a:off x="2977009" y="7110695"/>
            <a:ext cx="1576388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75" spc="94" kern="0" dirty="0">
                <a:solidFill>
                  <a:srgbClr val="F8EFFF">
                    <a:alpha val="82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を制作できる</a:t>
            </a:r>
            <a:endParaRPr lang="en-US" sz="1875" dirty="0"/>
          </a:p>
        </p:txBody>
      </p:sp>
      <p:sp>
        <p:nvSpPr>
          <p:cNvPr id="21" name="Shape 19"/>
          <p:cNvSpPr/>
          <p:nvPr/>
        </p:nvSpPr>
        <p:spPr>
          <a:xfrm>
            <a:off x="10545514" y="5441699"/>
            <a:ext cx="6485186" cy="1419225"/>
          </a:xfrm>
          <a:prstGeom prst="rect">
            <a:avLst/>
          </a:prstGeom>
          <a:solidFill>
            <a:srgbClr val="FF4FA8">
              <a:alpha val="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0545514" y="5441699"/>
            <a:ext cx="38100" cy="1419225"/>
          </a:xfrm>
          <a:prstGeom prst="rect">
            <a:avLst/>
          </a:prstGeom>
          <a:solidFill>
            <a:srgbClr val="FFD27A">
              <a:alpha val="99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0907464" y="5708399"/>
            <a:ext cx="5973367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50" b="1" i="1" dirty="0">
                <a:solidFill>
                  <a:srgbClr val="FFD27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“From draft to release.”</a:t>
            </a:r>
            <a:endParaRPr lang="en-US" sz="2850" dirty="0"/>
          </a:p>
        </p:txBody>
      </p:sp>
      <p:sp>
        <p:nvSpPr>
          <p:cNvPr id="24" name="Text 22"/>
          <p:cNvSpPr/>
          <p:nvPr/>
        </p:nvSpPr>
        <p:spPr>
          <a:xfrm>
            <a:off x="10907464" y="6232274"/>
            <a:ext cx="5973367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b="1" spc="108" kern="0" dirty="0">
                <a:solidFill>
                  <a:srgbClr val="F8EFFF">
                    <a:alpha val="82000"/>
                  </a:srgbClr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違和感ゼロが、完成の基準。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0" y="9753600"/>
            <a:ext cx="18288000" cy="533400"/>
          </a:xfrm>
          <a:prstGeom prst="rect">
            <a:avLst/>
          </a:prstGeom>
          <a:solidFill>
            <a:srgbClr val="FF4FA8">
              <a:alpha val="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0" y="9753600"/>
            <a:ext cx="18288000" cy="9525"/>
          </a:xfrm>
          <a:prstGeom prst="rect">
            <a:avLst/>
          </a:prstGeom>
          <a:solidFill>
            <a:srgbClr val="FFD27A">
              <a:alpha val="13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419100" y="9934575"/>
            <a:ext cx="127649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DEEP PRISM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1752749" y="10001250"/>
            <a:ext cx="47625" cy="47625"/>
          </a:xfrm>
          <a:prstGeom prst="ellipse">
            <a:avLst/>
          </a:prstGeom>
          <a:solidFill>
            <a:srgbClr val="FF4FA8"/>
          </a:solidFill>
          <a:ln/>
          <a:effectLst>
            <a:outerShdw sx="100000" sy="100000" kx="0" ky="0" algn="bl" rotWithShape="0" blurRad="76200" dist="50800" dir="16200000">
              <a:srgbClr val="FF4FA8">
                <a:alpha val="10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933724" y="9929813"/>
            <a:ext cx="252984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F8EFFF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幽ヶ崎 海月 · AE LYRIC MV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5468600" y="9934575"/>
            <a:ext cx="24765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 06 — 02 / </a:t>
            </a:r>
            <a:pPr algn="l" indent="0" marL="0">
              <a:buNone/>
            </a:pPr>
            <a:r>
              <a:rPr lang="en-US" sz="1050" spc="315" kern="0" dirty="0">
                <a:solidFill>
                  <a:srgbClr val="B58EFF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13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B850FF">
              <a:alpha val="2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-285750" y="5048250"/>
            <a:ext cx="2496592" cy="6324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750"/>
              </a:lnSpc>
              <a:buNone/>
            </a:pPr>
            <a:r>
              <a:rPr lang="en-US" sz="40000" b="1" i="1" spc="-1980" kern="0" dirty="0">
                <a:solidFill>
                  <a:srgbClr val="000000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6</a:t>
            </a:r>
            <a:endParaRPr lang="en-US" sz="40000" dirty="0"/>
          </a:p>
        </p:txBody>
      </p:sp>
      <p:sp>
        <p:nvSpPr>
          <p:cNvPr id="4" name="Text 2"/>
          <p:cNvSpPr/>
          <p:nvPr/>
        </p:nvSpPr>
        <p:spPr>
          <a:xfrm>
            <a:off x="1257300" y="1009650"/>
            <a:ext cx="289620" cy="24765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50800" dir="16200000">
              <a:srgbClr val="FF4FA8">
                <a:alpha val="5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FF4FA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623120" y="1109663"/>
            <a:ext cx="514350" cy="9525"/>
          </a:xfrm>
          <a:prstGeom prst="rect">
            <a:avLst/>
          </a:prstGeom>
          <a:solidFill>
            <a:srgbClr val="FFD27A"/>
          </a:solidFill>
          <a:ln/>
        </p:spPr>
      </p:sp>
      <p:sp>
        <p:nvSpPr>
          <p:cNvPr id="6" name="Text 4"/>
          <p:cNvSpPr/>
          <p:nvPr/>
        </p:nvSpPr>
        <p:spPr>
          <a:xfrm>
            <a:off x="2289870" y="990600"/>
            <a:ext cx="342238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599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FINISHING PIPELINE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1257300" y="1390650"/>
            <a:ext cx="6293903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5400" b="1" i="1" spc="-54" kern="0" dirty="0">
                <a:solidFill>
                  <a:srgbClr val="F8E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仕上げ工程の全体像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1257300" y="2105025"/>
            <a:ext cx="6293903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315" kern="0" dirty="0">
                <a:solidFill>
                  <a:srgbClr val="B58E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この工程で作品の“完成度”が決まる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2787402" y="4901144"/>
            <a:ext cx="17055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50" b="1" i="1" dirty="0">
                <a:solidFill>
                  <a:srgbClr val="FFD27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1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2586930" y="5358344"/>
            <a:ext cx="495300" cy="495300"/>
          </a:xfrm>
          <a:prstGeom prst="ellipse">
            <a:avLst/>
          </a:prstGeom>
          <a:solidFill>
            <a:srgbClr val="FF4FA8"/>
          </a:solidFill>
          <a:ln/>
          <a:effectLst>
            <a:outerShdw sx="100000" sy="100000" kx="0" ky="0" algn="bl" rotWithShape="0" blurRad="209550" dist="50800" dir="16200000">
              <a:srgbClr val="FF4FA8">
                <a:alpha val="5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563118" y="5372631"/>
            <a:ext cx="542925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◑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2439888" y="5986994"/>
            <a:ext cx="78953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spc="54" kern="0" dirty="0">
                <a:solidFill>
                  <a:srgbClr val="F8EFFF">
                    <a:alpha val="85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色調統一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2548533" y="6377519"/>
            <a:ext cx="64829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B58E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GRADING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5928866" y="4901144"/>
            <a:ext cx="19704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50" b="1" i="1" dirty="0">
                <a:solidFill>
                  <a:srgbClr val="FFD27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2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5741640" y="5358344"/>
            <a:ext cx="495300" cy="495300"/>
          </a:xfrm>
          <a:prstGeom prst="ellipse">
            <a:avLst/>
          </a:prstGeom>
          <a:solidFill>
            <a:srgbClr val="FF4FA8"/>
          </a:solidFill>
          <a:ln/>
          <a:effectLst>
            <a:outerShdw sx="100000" sy="100000" kx="0" ky="0" algn="bl" rotWithShape="0" blurRad="209550" dist="50800" dir="16200000">
              <a:srgbClr val="FF4FA8">
                <a:alpha val="5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717828" y="5372631"/>
            <a:ext cx="542925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▒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5505450" y="5986994"/>
            <a:ext cx="96782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spc="54" kern="0" dirty="0">
                <a:solidFill>
                  <a:srgbClr val="F8EFFF">
                    <a:alpha val="85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ノイズ追加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784949" y="6377519"/>
            <a:ext cx="48488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B58E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GRAIN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9086701" y="4901128"/>
            <a:ext cx="19094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50" b="1" i="1" dirty="0">
                <a:solidFill>
                  <a:srgbClr val="FFD27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3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8896350" y="5358328"/>
            <a:ext cx="495300" cy="495300"/>
          </a:xfrm>
          <a:prstGeom prst="ellipse">
            <a:avLst/>
          </a:prstGeom>
          <a:solidFill>
            <a:srgbClr val="FF4FA8"/>
          </a:solidFill>
          <a:ln/>
          <a:effectLst>
            <a:outerShdw sx="100000" sy="100000" kx="0" ky="0" algn="bl" rotWithShape="0" blurRad="209550" dist="50800" dir="16200000">
              <a:srgbClr val="FF4FA8">
                <a:alpha val="5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872538" y="5372615"/>
            <a:ext cx="542925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▣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8660160" y="5986978"/>
            <a:ext cx="96782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spc="54" kern="0" dirty="0">
                <a:solidFill>
                  <a:srgbClr val="F8EFFF">
                    <a:alpha val="85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最終コンポ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776246" y="6377503"/>
            <a:ext cx="81185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B58E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COMPOSITE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12228612" y="4901128"/>
            <a:ext cx="21654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50" b="1" i="1" dirty="0">
                <a:solidFill>
                  <a:srgbClr val="FFD27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4</a:t>
            </a:r>
            <a:endParaRPr lang="en-US" sz="2550" dirty="0"/>
          </a:p>
        </p:txBody>
      </p:sp>
      <p:sp>
        <p:nvSpPr>
          <p:cNvPr id="25" name="Shape 23"/>
          <p:cNvSpPr/>
          <p:nvPr/>
        </p:nvSpPr>
        <p:spPr>
          <a:xfrm>
            <a:off x="12051060" y="5358328"/>
            <a:ext cx="495300" cy="495300"/>
          </a:xfrm>
          <a:prstGeom prst="ellipse">
            <a:avLst/>
          </a:prstGeom>
          <a:solidFill>
            <a:srgbClr val="FF4FA8"/>
          </a:solidFill>
          <a:ln/>
          <a:effectLst>
            <a:outerShdw sx="100000" sy="100000" kx="0" ky="0" algn="bl" rotWithShape="0" blurRad="209550" dist="50800" dir="16200000">
              <a:srgbClr val="FF4FA8">
                <a:alpha val="5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2027247" y="5372615"/>
            <a:ext cx="542925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▶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11904018" y="5986978"/>
            <a:ext cx="78953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spc="54" kern="0" dirty="0">
                <a:solidFill>
                  <a:srgbClr val="F8EFFF">
                    <a:alpha val="85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書き出し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2053590" y="6377503"/>
            <a:ext cx="56658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B58E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EXPORT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15392846" y="4901128"/>
            <a:ext cx="19734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50" b="1" i="1" dirty="0">
                <a:solidFill>
                  <a:srgbClr val="FFD27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5</a:t>
            </a:r>
            <a:endParaRPr lang="en-US" sz="2550" dirty="0"/>
          </a:p>
        </p:txBody>
      </p:sp>
      <p:sp>
        <p:nvSpPr>
          <p:cNvPr id="30" name="Shape 28"/>
          <p:cNvSpPr/>
          <p:nvPr/>
        </p:nvSpPr>
        <p:spPr>
          <a:xfrm>
            <a:off x="15205770" y="5358328"/>
            <a:ext cx="495300" cy="495300"/>
          </a:xfrm>
          <a:prstGeom prst="ellipse">
            <a:avLst/>
          </a:prstGeom>
          <a:solidFill>
            <a:srgbClr val="FF4FA8"/>
          </a:solidFill>
          <a:ln/>
          <a:effectLst>
            <a:outerShdw sx="100000" sy="100000" kx="0" ky="0" algn="bl" rotWithShape="0" blurRad="209550" dist="50800" dir="16200000">
              <a:srgbClr val="FF4FA8">
                <a:alpha val="5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5181957" y="5372615"/>
            <a:ext cx="542925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▦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14969579" y="5986978"/>
            <a:ext cx="96782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spc="54" kern="0" dirty="0">
                <a:solidFill>
                  <a:srgbClr val="F8EFFF">
                    <a:alpha val="85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サムネイル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15085665" y="6377503"/>
            <a:ext cx="81185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B58E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THUMBNAIL</a:t>
            </a:r>
            <a:endParaRPr lang="en-US" sz="825" dirty="0"/>
          </a:p>
        </p:txBody>
      </p:sp>
      <p:sp>
        <p:nvSpPr>
          <p:cNvPr id="34" name="Text 32"/>
          <p:cNvSpPr/>
          <p:nvPr/>
        </p:nvSpPr>
        <p:spPr>
          <a:xfrm>
            <a:off x="7648724" y="7061760"/>
            <a:ext cx="1456373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5" spc="86" kern="0" dirty="0">
                <a:solidFill>
                  <a:srgbClr val="FFD27A">
                    <a:alpha val="98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最終仕上げ＝</a:t>
            </a:r>
            <a:endParaRPr lang="en-US" sz="1725" dirty="0"/>
          </a:p>
        </p:txBody>
      </p:sp>
      <p:sp>
        <p:nvSpPr>
          <p:cNvPr id="35" name="Text 33"/>
          <p:cNvSpPr/>
          <p:nvPr/>
        </p:nvSpPr>
        <p:spPr>
          <a:xfrm>
            <a:off x="9200406" y="7061760"/>
            <a:ext cx="1456432" cy="361950"/>
          </a:xfrm>
          <a:prstGeom prst="rect">
            <a:avLst/>
          </a:prstGeom>
          <a:noFill/>
          <a:ln/>
          <a:effectLst>
            <a:outerShdw sx="100000" sy="100000" kx="0" ky="0" algn="bl" rotWithShape="0" blurRad="114300" dist="50800" dir="16200000">
              <a:srgbClr val="5AE9FF">
                <a:alpha val="4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spc="86" kern="0" dirty="0">
                <a:solidFill>
                  <a:srgbClr val="5AE9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世界観の統一</a:t>
            </a:r>
            <a:endParaRPr lang="en-US" sz="1725" dirty="0"/>
          </a:p>
        </p:txBody>
      </p:sp>
      <p:sp>
        <p:nvSpPr>
          <p:cNvPr id="36" name="Text 34"/>
          <p:cNvSpPr/>
          <p:nvPr/>
        </p:nvSpPr>
        <p:spPr>
          <a:xfrm>
            <a:off x="10752088" y="7061760"/>
            <a:ext cx="306229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5" spc="86" kern="0" dirty="0">
                <a:solidFill>
                  <a:srgbClr val="FFD27A">
                    <a:alpha val="98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。</a:t>
            </a:r>
            <a:endParaRPr lang="en-US" sz="1725" dirty="0"/>
          </a:p>
        </p:txBody>
      </p:sp>
      <p:sp>
        <p:nvSpPr>
          <p:cNvPr id="37" name="Shape 35"/>
          <p:cNvSpPr/>
          <p:nvPr/>
        </p:nvSpPr>
        <p:spPr>
          <a:xfrm>
            <a:off x="0" y="9753600"/>
            <a:ext cx="18288000" cy="533400"/>
          </a:xfrm>
          <a:prstGeom prst="rect">
            <a:avLst/>
          </a:prstGeom>
          <a:solidFill>
            <a:srgbClr val="FF4FA8">
              <a:alpha val="5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0" y="9753600"/>
            <a:ext cx="18288000" cy="9525"/>
          </a:xfrm>
          <a:prstGeom prst="rect">
            <a:avLst/>
          </a:prstGeom>
          <a:solidFill>
            <a:srgbClr val="FFD27A">
              <a:alpha val="13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419100" y="9934575"/>
            <a:ext cx="127649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DEEP PRISM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1752749" y="10001250"/>
            <a:ext cx="47625" cy="47625"/>
          </a:xfrm>
          <a:prstGeom prst="ellipse">
            <a:avLst/>
          </a:prstGeom>
          <a:solidFill>
            <a:srgbClr val="FF4FA8"/>
          </a:solidFill>
          <a:ln/>
          <a:effectLst>
            <a:outerShdw sx="100000" sy="100000" kx="0" ky="0" algn="bl" rotWithShape="0" blurRad="76200" dist="50800" dir="16200000">
              <a:srgbClr val="FF4FA8">
                <a:alpha val="10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1933724" y="9929813"/>
            <a:ext cx="252984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F8EFFF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幽ヶ崎 海月 · AE LYRIC MV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15468600" y="9934575"/>
            <a:ext cx="24765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 06 — 03 / </a:t>
            </a:r>
            <a:pPr algn="l" indent="0" marL="0">
              <a:buNone/>
            </a:pPr>
            <a:r>
              <a:rPr lang="en-US" sz="1050" spc="315" kern="0" dirty="0">
                <a:solidFill>
                  <a:srgbClr val="B58EFF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13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B850FF">
              <a:alpha val="2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-285750" y="5048250"/>
            <a:ext cx="2496592" cy="6324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750"/>
              </a:lnSpc>
              <a:buNone/>
            </a:pPr>
            <a:r>
              <a:rPr lang="en-US" sz="40000" b="1" i="1" spc="-1980" kern="0" dirty="0">
                <a:solidFill>
                  <a:srgbClr val="000000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6</a:t>
            </a:r>
            <a:endParaRPr lang="en-US" sz="40000" dirty="0"/>
          </a:p>
        </p:txBody>
      </p:sp>
      <p:sp>
        <p:nvSpPr>
          <p:cNvPr id="4" name="Text 2"/>
          <p:cNvSpPr/>
          <p:nvPr/>
        </p:nvSpPr>
        <p:spPr>
          <a:xfrm>
            <a:off x="1257300" y="1009650"/>
            <a:ext cx="289620" cy="24765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50800" dir="16200000">
              <a:srgbClr val="FF4FA8">
                <a:alpha val="5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FF4FA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623120" y="1109663"/>
            <a:ext cx="514350" cy="9525"/>
          </a:xfrm>
          <a:prstGeom prst="rect">
            <a:avLst/>
          </a:prstGeom>
          <a:solidFill>
            <a:srgbClr val="FFD27A"/>
          </a:solidFill>
          <a:ln/>
        </p:spPr>
      </p:sp>
      <p:sp>
        <p:nvSpPr>
          <p:cNvPr id="6" name="Text 4"/>
          <p:cNvSpPr/>
          <p:nvPr/>
        </p:nvSpPr>
        <p:spPr>
          <a:xfrm>
            <a:off x="2289870" y="990600"/>
            <a:ext cx="247592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599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COLOR GRADING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1257300" y="1390650"/>
            <a:ext cx="5454930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5400" b="1" i="1" spc="-54" kern="0" dirty="0">
                <a:solidFill>
                  <a:srgbClr val="F8E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色調統一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1257300" y="2105025"/>
            <a:ext cx="545493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315" kern="0" dirty="0">
                <a:solidFill>
                  <a:srgbClr val="B58E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色調が揃うと“プロの映像”に見える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1257300" y="4729631"/>
            <a:ext cx="7620000" cy="2476500"/>
          </a:xfrm>
          <a:prstGeom prst="roundRect">
            <a:avLst>
              <a:gd name="adj" fmla="val 2308"/>
            </a:avLst>
          </a:prstGeom>
          <a:ln w="9525">
            <a:solidFill>
              <a:srgbClr val="FFD27A">
                <a:alpha val="2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66825" y="4739156"/>
            <a:ext cx="3800475" cy="2457450"/>
          </a:xfrm>
          <a:prstGeom prst="rect">
            <a:avLst/>
          </a:prstGeom>
          <a:solidFill>
            <a:srgbClr val="3A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419225" y="4891556"/>
            <a:ext cx="3609689" cy="2190750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100000"/>
              </a:srgbClr>
            </a:outerShdw>
          </a:effectLst>
        </p:spPr>
        <p:txBody>
          <a:bodyPr wrap="square" lIns="25400" tIns="25400" rIns="25400" bIns="25400" rtlCol="0" anchor="b">
            <a:normAutofit/>
          </a:bodyPr>
          <a:lstStyle/>
          <a:p>
            <a:pPr algn="l" indent="0" marL="0">
              <a:buNone/>
            </a:pPr>
            <a:r>
              <a:rPr lang="en-US" sz="975" spc="156" kern="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BEFORE — 素材のまま</a:t>
            </a:r>
            <a:endParaRPr lang="en-US" sz="975" dirty="0"/>
          </a:p>
        </p:txBody>
      </p:sp>
      <p:sp>
        <p:nvSpPr>
          <p:cNvPr id="12" name="Shape 10"/>
          <p:cNvSpPr/>
          <p:nvPr/>
        </p:nvSpPr>
        <p:spPr>
          <a:xfrm>
            <a:off x="5067300" y="4739156"/>
            <a:ext cx="3800475" cy="2457450"/>
          </a:xfrm>
          <a:prstGeom prst="rect">
            <a:avLst/>
          </a:prstGeom>
          <a:solidFill>
            <a:srgbClr val="1A2A5E"/>
          </a:solidFill>
          <a:ln/>
        </p:spPr>
      </p:sp>
      <p:sp>
        <p:nvSpPr>
          <p:cNvPr id="13" name="Text 11"/>
          <p:cNvSpPr/>
          <p:nvPr/>
        </p:nvSpPr>
        <p:spPr>
          <a:xfrm>
            <a:off x="5219700" y="4891556"/>
            <a:ext cx="3609689" cy="2190750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100000"/>
              </a:srgbClr>
            </a:outerShdw>
          </a:effectLst>
        </p:spPr>
        <p:txBody>
          <a:bodyPr wrap="square" lIns="25400" tIns="25400" rIns="25400" bIns="25400" rtlCol="0" anchor="b">
            <a:normAutofit/>
          </a:bodyPr>
          <a:lstStyle/>
          <a:p>
            <a:pPr algn="l" indent="0" marL="0">
              <a:buNone/>
            </a:pPr>
            <a:r>
              <a:rPr lang="en-US" sz="975" spc="156" kern="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AFTER — Deep Prism グレード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1143000" y="7339466"/>
            <a:ext cx="78486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spc="293" kern="0" dirty="0">
                <a:solidFill>
                  <a:srgbClr val="B58EFF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影 / 中間 / ハイライトを整え、色温度を合わせる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9708803" y="5170845"/>
            <a:ext cx="1076325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75" spc="94" kern="0" dirty="0">
                <a:solidFill>
                  <a:srgbClr val="F8EFFF">
                    <a:alpha val="82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キャラの</a:t>
            </a:r>
            <a:endParaRPr lang="en-US" sz="1875" dirty="0"/>
          </a:p>
        </p:txBody>
      </p:sp>
      <p:sp>
        <p:nvSpPr>
          <p:cNvPr id="16" name="Text 14"/>
          <p:cNvSpPr/>
          <p:nvPr/>
        </p:nvSpPr>
        <p:spPr>
          <a:xfrm>
            <a:off x="10880378" y="5161320"/>
            <a:ext cx="576263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75" b="1" spc="94" kern="0" dirty="0">
                <a:solidFill>
                  <a:srgbClr val="F8E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肌色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11551890" y="5170845"/>
            <a:ext cx="2326481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75" spc="94" kern="0" dirty="0">
                <a:solidFill>
                  <a:srgbClr val="F8EFFF">
                    <a:alpha val="82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が破綻していないか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9708803" y="5704245"/>
            <a:ext cx="826294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75" spc="94" kern="0" dirty="0">
                <a:solidFill>
                  <a:srgbClr val="F8EFFF">
                    <a:alpha val="82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背景が</a:t>
            </a:r>
            <a:endParaRPr lang="en-US" sz="1875" dirty="0"/>
          </a:p>
        </p:txBody>
      </p:sp>
      <p:sp>
        <p:nvSpPr>
          <p:cNvPr id="19" name="Text 17"/>
          <p:cNvSpPr/>
          <p:nvPr/>
        </p:nvSpPr>
        <p:spPr>
          <a:xfrm>
            <a:off x="10630346" y="5694720"/>
            <a:ext cx="2326481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75" b="1" spc="94" kern="0" dirty="0">
                <a:solidFill>
                  <a:srgbClr val="F8E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主役を奪っていない</a:t>
            </a:r>
            <a:endParaRPr lang="en-US" sz="1875" dirty="0"/>
          </a:p>
        </p:txBody>
      </p:sp>
      <p:sp>
        <p:nvSpPr>
          <p:cNvPr id="20" name="Text 18"/>
          <p:cNvSpPr/>
          <p:nvPr/>
        </p:nvSpPr>
        <p:spPr>
          <a:xfrm>
            <a:off x="13052078" y="5704245"/>
            <a:ext cx="326231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75" spc="94" kern="0" dirty="0">
                <a:solidFill>
                  <a:srgbClr val="F8EFFF">
                    <a:alpha val="82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か</a:t>
            </a:r>
            <a:endParaRPr lang="en-US" sz="1875" dirty="0"/>
          </a:p>
        </p:txBody>
      </p:sp>
      <p:sp>
        <p:nvSpPr>
          <p:cNvPr id="21" name="Text 19"/>
          <p:cNvSpPr/>
          <p:nvPr/>
        </p:nvSpPr>
        <p:spPr>
          <a:xfrm>
            <a:off x="9410700" y="6228120"/>
            <a:ext cx="78486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75" spc="94" kern="0" dirty="0">
                <a:solidFill>
                  <a:srgbClr val="F8EFFF">
                    <a:alpha val="82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サビだけ少し明るくするのも有効</a:t>
            </a:r>
            <a:endParaRPr lang="en-US" sz="1875" dirty="0"/>
          </a:p>
        </p:txBody>
      </p:sp>
      <p:sp>
        <p:nvSpPr>
          <p:cNvPr id="22" name="Text 20"/>
          <p:cNvSpPr/>
          <p:nvPr/>
        </p:nvSpPr>
        <p:spPr>
          <a:xfrm>
            <a:off x="9708803" y="6771045"/>
            <a:ext cx="826294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75" spc="94" kern="0" dirty="0">
                <a:solidFill>
                  <a:srgbClr val="F8EFFF">
                    <a:alpha val="82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全体の</a:t>
            </a:r>
            <a:endParaRPr lang="en-US" sz="1875" dirty="0"/>
          </a:p>
        </p:txBody>
      </p:sp>
      <p:sp>
        <p:nvSpPr>
          <p:cNvPr id="23" name="Text 21"/>
          <p:cNvSpPr/>
          <p:nvPr/>
        </p:nvSpPr>
        <p:spPr>
          <a:xfrm>
            <a:off x="10630346" y="6761520"/>
            <a:ext cx="2326481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75" b="1" spc="94" kern="0" dirty="0">
                <a:solidFill>
                  <a:srgbClr val="F8E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コントラストを統一</a:t>
            </a:r>
            <a:endParaRPr lang="en-US" sz="1875" dirty="0"/>
          </a:p>
        </p:txBody>
      </p:sp>
      <p:sp>
        <p:nvSpPr>
          <p:cNvPr id="24" name="Shape 22"/>
          <p:cNvSpPr/>
          <p:nvPr/>
        </p:nvSpPr>
        <p:spPr>
          <a:xfrm>
            <a:off x="0" y="9753600"/>
            <a:ext cx="18288000" cy="533400"/>
          </a:xfrm>
          <a:prstGeom prst="rect">
            <a:avLst/>
          </a:prstGeom>
          <a:solidFill>
            <a:srgbClr val="FF4FA8">
              <a:alpha val="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9753600"/>
            <a:ext cx="18288000" cy="9525"/>
          </a:xfrm>
          <a:prstGeom prst="rect">
            <a:avLst/>
          </a:prstGeom>
          <a:solidFill>
            <a:srgbClr val="FFD27A">
              <a:alpha val="13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419100" y="9934575"/>
            <a:ext cx="127649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DEEP PRISM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752749" y="10001250"/>
            <a:ext cx="47625" cy="47625"/>
          </a:xfrm>
          <a:prstGeom prst="ellipse">
            <a:avLst/>
          </a:prstGeom>
          <a:solidFill>
            <a:srgbClr val="FF4FA8"/>
          </a:solidFill>
          <a:ln/>
          <a:effectLst>
            <a:outerShdw sx="100000" sy="100000" kx="0" ky="0" algn="bl" rotWithShape="0" blurRad="76200" dist="50800" dir="16200000">
              <a:srgbClr val="FF4FA8">
                <a:alpha val="10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1933724" y="9929813"/>
            <a:ext cx="252984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F8EFFF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幽ヶ崎 海月 · AE LYRIC MV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5468600" y="9934575"/>
            <a:ext cx="24765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 06 — 04 / </a:t>
            </a:r>
            <a:pPr algn="l" indent="0" marL="0">
              <a:buNone/>
            </a:pPr>
            <a:r>
              <a:rPr lang="en-US" sz="1050" spc="315" kern="0" dirty="0">
                <a:solidFill>
                  <a:srgbClr val="B58EFF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13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B850FF">
              <a:alpha val="2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-285750" y="5048250"/>
            <a:ext cx="2496592" cy="6324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750"/>
              </a:lnSpc>
              <a:buNone/>
            </a:pPr>
            <a:r>
              <a:rPr lang="en-US" sz="40000" b="1" i="1" spc="-1980" kern="0" dirty="0">
                <a:solidFill>
                  <a:srgbClr val="000000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6</a:t>
            </a:r>
            <a:endParaRPr lang="en-US" sz="40000" dirty="0"/>
          </a:p>
        </p:txBody>
      </p:sp>
      <p:sp>
        <p:nvSpPr>
          <p:cNvPr id="4" name="Text 2"/>
          <p:cNvSpPr/>
          <p:nvPr/>
        </p:nvSpPr>
        <p:spPr>
          <a:xfrm>
            <a:off x="1257300" y="1009650"/>
            <a:ext cx="289620" cy="24765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50800" dir="16200000">
              <a:srgbClr val="FF4FA8">
                <a:alpha val="5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FF4FA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623120" y="1109663"/>
            <a:ext cx="514350" cy="9525"/>
          </a:xfrm>
          <a:prstGeom prst="rect">
            <a:avLst/>
          </a:prstGeom>
          <a:solidFill>
            <a:srgbClr val="FFD27A"/>
          </a:solidFill>
          <a:ln/>
        </p:spPr>
      </p:sp>
      <p:sp>
        <p:nvSpPr>
          <p:cNvPr id="6" name="Text 4"/>
          <p:cNvSpPr/>
          <p:nvPr/>
        </p:nvSpPr>
        <p:spPr>
          <a:xfrm>
            <a:off x="2289870" y="990600"/>
            <a:ext cx="342238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599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LUT &amp; MANUAL GRADE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1257300" y="1390650"/>
            <a:ext cx="7537875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5400" b="1" i="1" spc="-54" kern="0" dirty="0">
                <a:solidFill>
                  <a:srgbClr val="F8E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LUTと手動カーブ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1257300" y="2105025"/>
            <a:ext cx="753787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315" kern="0" dirty="0">
                <a:solidFill>
                  <a:srgbClr val="B58E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LUTは“調整レイヤー経由”が鉄則 — なくてもOK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1257300" y="2924659"/>
            <a:ext cx="7620000" cy="6448425"/>
          </a:xfrm>
          <a:prstGeom prst="roundRect">
            <a:avLst>
              <a:gd name="adj" fmla="val 886"/>
            </a:avLst>
          </a:prstGeom>
          <a:solidFill>
            <a:srgbClr val="FF4FA8">
              <a:alpha val="5000"/>
            </a:srgbClr>
          </a:solidFill>
          <a:ln w="9525">
            <a:solidFill>
              <a:srgbClr val="FFD27A">
                <a:alpha val="16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52575" y="3200884"/>
            <a:ext cx="724033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◔ LUT — プリセット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552575" y="3543784"/>
            <a:ext cx="457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i="1" dirty="0">
                <a:solidFill>
                  <a:srgbClr val="FFD27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1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143125" y="3600919"/>
            <a:ext cx="227647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8E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調整レイヤーを最上部に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52575" y="4000969"/>
            <a:ext cx="457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i="1" dirty="0">
                <a:solidFill>
                  <a:srgbClr val="FFD27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143125" y="4058119"/>
            <a:ext cx="236532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8E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Apply Color LUT を追加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552575" y="4458169"/>
            <a:ext cx="457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i="1" dirty="0">
                <a:solidFill>
                  <a:srgbClr val="FFD27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2143125" y="4515319"/>
            <a:ext cx="206826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8E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フリーLUTを読み込む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52575" y="4915369"/>
            <a:ext cx="457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i="1" dirty="0">
                <a:solidFill>
                  <a:srgbClr val="FFD27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2143125" y="4972519"/>
            <a:ext cx="216634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8E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不透明度を</a:t>
            </a:r>
            <a:pPr algn="l" indent="0" marL="0">
              <a:buNone/>
            </a:pPr>
            <a:r>
              <a:rPr lang="en-US" sz="1500" b="1" spc="75" kern="0" dirty="0">
                <a:solidFill>
                  <a:srgbClr val="5AE9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30〜60%</a:t>
            </a:r>
            <a:pPr algn="l" indent="0" marL="0">
              <a:buNone/>
            </a:pPr>
            <a:r>
              <a:rPr lang="en-US" sz="1500" b="1" spc="75" kern="0" dirty="0">
                <a:solidFill>
                  <a:srgbClr val="F8E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に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9410700" y="2927758"/>
            <a:ext cx="7620000" cy="6448425"/>
          </a:xfrm>
          <a:prstGeom prst="roundRect">
            <a:avLst>
              <a:gd name="adj" fmla="val 886"/>
            </a:avLst>
          </a:prstGeom>
          <a:solidFill>
            <a:srgbClr val="FF4FA8">
              <a:alpha val="5000"/>
            </a:srgbClr>
          </a:solidFill>
          <a:ln w="9525">
            <a:solidFill>
              <a:srgbClr val="FFD27A">
                <a:alpha val="16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705975" y="3203983"/>
            <a:ext cx="724033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◵ CURVES — 手動（LUTなし）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0001250" y="3565883"/>
            <a:ext cx="47982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425" b="1" spc="71" kern="0" dirty="0">
                <a:solidFill>
                  <a:srgbClr val="F8E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RGB</a:t>
            </a:r>
            <a:endParaRPr lang="en-US" sz="1425" dirty="0"/>
          </a:p>
        </p:txBody>
      </p:sp>
      <p:sp>
        <p:nvSpPr>
          <p:cNvPr id="22" name="Text 20"/>
          <p:cNvSpPr/>
          <p:nvPr/>
        </p:nvSpPr>
        <p:spPr>
          <a:xfrm>
            <a:off x="10576322" y="3565883"/>
            <a:ext cx="2473449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425" spc="71" kern="0" dirty="0">
                <a:solidFill>
                  <a:srgbClr val="F8EFFF">
                    <a:alpha val="82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：S字カーブでコントラスト</a:t>
            </a:r>
            <a:endParaRPr lang="en-US" sz="1425" dirty="0"/>
          </a:p>
        </p:txBody>
      </p:sp>
      <p:sp>
        <p:nvSpPr>
          <p:cNvPr id="23" name="Text 21"/>
          <p:cNvSpPr/>
          <p:nvPr/>
        </p:nvSpPr>
        <p:spPr>
          <a:xfrm>
            <a:off x="10001250" y="3994508"/>
            <a:ext cx="20865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425" b="1" spc="71" kern="0" dirty="0">
                <a:solidFill>
                  <a:srgbClr val="F8E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</a:t>
            </a:r>
            <a:endParaRPr lang="en-US" sz="1425" dirty="0"/>
          </a:p>
        </p:txBody>
      </p:sp>
      <p:sp>
        <p:nvSpPr>
          <p:cNvPr id="24" name="Text 22"/>
          <p:cNvSpPr/>
          <p:nvPr/>
        </p:nvSpPr>
        <p:spPr>
          <a:xfrm>
            <a:off x="10305157" y="3994508"/>
            <a:ext cx="245548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425" spc="71" kern="0" dirty="0">
                <a:solidFill>
                  <a:srgbClr val="F8EFFF">
                    <a:alpha val="82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：シャドウに足す → 温かみ</a:t>
            </a:r>
            <a:endParaRPr lang="en-US" sz="1425" dirty="0"/>
          </a:p>
        </p:txBody>
      </p:sp>
      <p:sp>
        <p:nvSpPr>
          <p:cNvPr id="25" name="Text 23"/>
          <p:cNvSpPr/>
          <p:nvPr/>
        </p:nvSpPr>
        <p:spPr>
          <a:xfrm>
            <a:off x="10001250" y="4423133"/>
            <a:ext cx="208657" cy="323850"/>
          </a:xfrm>
          <a:prstGeom prst="rect">
            <a:avLst/>
          </a:prstGeom>
          <a:noFill/>
          <a:ln/>
          <a:effectLst>
            <a:outerShdw sx="100000" sy="100000" kx="0" ky="0" algn="bl" rotWithShape="0" blurRad="114300" dist="50800" dir="16200000">
              <a:srgbClr val="5AE9FF">
                <a:alpha val="55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425" b="1" spc="71" kern="0" dirty="0">
                <a:solidFill>
                  <a:srgbClr val="F8E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</a:t>
            </a:r>
            <a:endParaRPr lang="en-US" sz="1425" dirty="0"/>
          </a:p>
        </p:txBody>
      </p:sp>
      <p:sp>
        <p:nvSpPr>
          <p:cNvPr id="26" name="Text 24"/>
          <p:cNvSpPr/>
          <p:nvPr/>
        </p:nvSpPr>
        <p:spPr>
          <a:xfrm>
            <a:off x="10305157" y="4423133"/>
            <a:ext cx="264638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425" spc="71" kern="0" dirty="0">
                <a:solidFill>
                  <a:srgbClr val="F8EFFF">
                    <a:alpha val="82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：ハイライトを引く → 映画調</a:t>
            </a:r>
            <a:endParaRPr lang="en-US" sz="1425" dirty="0"/>
          </a:p>
        </p:txBody>
      </p:sp>
      <p:sp>
        <p:nvSpPr>
          <p:cNvPr id="27" name="Text 25"/>
          <p:cNvSpPr/>
          <p:nvPr/>
        </p:nvSpPr>
        <p:spPr>
          <a:xfrm>
            <a:off x="9705975" y="4832708"/>
            <a:ext cx="724033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425" spc="71" kern="0" dirty="0">
                <a:solidFill>
                  <a:srgbClr val="F8EFFF">
                    <a:alpha val="82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Levels 出力を235に → 柔らかく</a:t>
            </a:r>
            <a:endParaRPr lang="en-US" sz="1425" dirty="0"/>
          </a:p>
        </p:txBody>
      </p:sp>
      <p:sp>
        <p:nvSpPr>
          <p:cNvPr id="28" name="Text 26"/>
          <p:cNvSpPr/>
          <p:nvPr/>
        </p:nvSpPr>
        <p:spPr>
          <a:xfrm>
            <a:off x="10046643" y="5318483"/>
            <a:ext cx="2781348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68" kern="0" dirty="0">
                <a:solidFill>
                  <a:srgbClr val="FFD27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ガンマシフト対策：リニア変換を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12918430" y="5318483"/>
            <a:ext cx="434727" cy="295275"/>
          </a:xfrm>
          <a:prstGeom prst="rect">
            <a:avLst/>
          </a:prstGeom>
          <a:noFill/>
          <a:ln/>
          <a:effectLst>
            <a:outerShdw sx="100000" sy="100000" kx="0" ky="0" algn="bl" rotWithShape="0" blurRad="114300" dist="50800" dir="16200000">
              <a:srgbClr val="5AE9FF">
                <a:alpha val="4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68" kern="0" dirty="0">
                <a:solidFill>
                  <a:srgbClr val="5AE9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OFF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0" y="9753600"/>
            <a:ext cx="18288000" cy="533400"/>
          </a:xfrm>
          <a:prstGeom prst="rect">
            <a:avLst/>
          </a:prstGeom>
          <a:solidFill>
            <a:srgbClr val="FF4FA8">
              <a:alpha val="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0" y="9753600"/>
            <a:ext cx="18288000" cy="9525"/>
          </a:xfrm>
          <a:prstGeom prst="rect">
            <a:avLst/>
          </a:prstGeom>
          <a:solidFill>
            <a:srgbClr val="FFD27A">
              <a:alpha val="13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419100" y="9934575"/>
            <a:ext cx="127649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DEEP PRISM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1752749" y="10001250"/>
            <a:ext cx="47625" cy="47625"/>
          </a:xfrm>
          <a:prstGeom prst="ellipse">
            <a:avLst/>
          </a:prstGeom>
          <a:solidFill>
            <a:srgbClr val="FF4FA8"/>
          </a:solidFill>
          <a:ln/>
          <a:effectLst>
            <a:outerShdw sx="100000" sy="100000" kx="0" ky="0" algn="bl" rotWithShape="0" blurRad="76200" dist="50800" dir="16200000">
              <a:srgbClr val="FF4FA8">
                <a:alpha val="10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1933724" y="9929813"/>
            <a:ext cx="252984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F8EFFF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幽ヶ崎 海月 · AE LYRIC MV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5468600" y="9934575"/>
            <a:ext cx="24765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 06 — 05 / </a:t>
            </a:r>
            <a:pPr algn="l" indent="0" marL="0">
              <a:buNone/>
            </a:pPr>
            <a:r>
              <a:rPr lang="en-US" sz="1050" spc="315" kern="0" dirty="0">
                <a:solidFill>
                  <a:srgbClr val="B58EFF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13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B850FF">
              <a:alpha val="2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-285750" y="5048250"/>
            <a:ext cx="2496592" cy="6324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750"/>
              </a:lnSpc>
              <a:buNone/>
            </a:pPr>
            <a:r>
              <a:rPr lang="en-US" sz="40000" b="1" i="1" spc="-1980" kern="0" dirty="0">
                <a:solidFill>
                  <a:srgbClr val="000000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6</a:t>
            </a:r>
            <a:endParaRPr lang="en-US" sz="40000" dirty="0"/>
          </a:p>
        </p:txBody>
      </p:sp>
      <p:sp>
        <p:nvSpPr>
          <p:cNvPr id="4" name="Text 2"/>
          <p:cNvSpPr/>
          <p:nvPr/>
        </p:nvSpPr>
        <p:spPr>
          <a:xfrm>
            <a:off x="1257300" y="1009650"/>
            <a:ext cx="289620" cy="24765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50800" dir="16200000">
              <a:srgbClr val="FF4FA8">
                <a:alpha val="5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FF4FA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623120" y="1109663"/>
            <a:ext cx="514350" cy="9525"/>
          </a:xfrm>
          <a:prstGeom prst="rect">
            <a:avLst/>
          </a:prstGeom>
          <a:solidFill>
            <a:srgbClr val="FFD27A"/>
          </a:solidFill>
          <a:ln/>
        </p:spPr>
      </p:sp>
      <p:sp>
        <p:nvSpPr>
          <p:cNvPr id="6" name="Text 4"/>
          <p:cNvSpPr/>
          <p:nvPr/>
        </p:nvSpPr>
        <p:spPr>
          <a:xfrm>
            <a:off x="2289870" y="990600"/>
            <a:ext cx="304211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599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GRAIN — THE GLUE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1257300" y="1390650"/>
            <a:ext cx="5790489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5400" b="1" i="1" spc="-54" kern="0" dirty="0">
                <a:solidFill>
                  <a:srgbClr val="F8E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グレインの役割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1257300" y="2105025"/>
            <a:ext cx="5790489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315" kern="0" dirty="0">
                <a:solidFill>
                  <a:srgbClr val="B58E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グレインは“素材を馴染ませる接着剤”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555403" y="5396494"/>
            <a:ext cx="1157921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75" spc="94" kern="0" dirty="0">
                <a:solidFill>
                  <a:srgbClr val="F8EFFF">
                    <a:alpha val="82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CG特有の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2808684" y="5386969"/>
            <a:ext cx="212496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75" b="1" spc="94" kern="0" dirty="0">
                <a:solidFill>
                  <a:srgbClr val="F8E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“綺麗すぎる質感”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5028902" y="5396494"/>
            <a:ext cx="826294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75" spc="94" kern="0" dirty="0">
                <a:solidFill>
                  <a:srgbClr val="F8EFFF">
                    <a:alpha val="82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を消す</a:t>
            </a:r>
            <a:endParaRPr lang="en-US" sz="1875" dirty="0"/>
          </a:p>
        </p:txBody>
      </p:sp>
      <p:sp>
        <p:nvSpPr>
          <p:cNvPr id="12" name="Text 10"/>
          <p:cNvSpPr/>
          <p:nvPr/>
        </p:nvSpPr>
        <p:spPr>
          <a:xfrm>
            <a:off x="1257300" y="5958469"/>
            <a:ext cx="78486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75" spc="94" kern="0" dirty="0">
                <a:solidFill>
                  <a:srgbClr val="F8EFFF">
                    <a:alpha val="82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キャラ・背景・エフェクトを統一</a:t>
            </a:r>
            <a:endParaRPr lang="en-US" sz="1875" dirty="0"/>
          </a:p>
        </p:txBody>
      </p:sp>
      <p:sp>
        <p:nvSpPr>
          <p:cNvPr id="13" name="Text 11"/>
          <p:cNvSpPr/>
          <p:nvPr/>
        </p:nvSpPr>
        <p:spPr>
          <a:xfrm>
            <a:off x="1555403" y="6529969"/>
            <a:ext cx="1355080" cy="419100"/>
          </a:xfrm>
          <a:prstGeom prst="rect">
            <a:avLst/>
          </a:prstGeom>
          <a:noFill/>
          <a:ln/>
          <a:effectLst>
            <a:outerShdw sx="100000" sy="100000" kx="0" ky="0" algn="bl" rotWithShape="0" blurRad="114300" dist="50800" dir="16200000">
              <a:srgbClr val="5AE9FF">
                <a:alpha val="55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75" b="1" spc="94" kern="0" dirty="0">
                <a:solidFill>
                  <a:srgbClr val="F8E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0.3〜1.0%</a:t>
            </a:r>
            <a:endParaRPr lang="en-US" sz="1875" dirty="0"/>
          </a:p>
        </p:txBody>
      </p:sp>
      <p:sp>
        <p:nvSpPr>
          <p:cNvPr id="14" name="Text 12"/>
          <p:cNvSpPr/>
          <p:nvPr/>
        </p:nvSpPr>
        <p:spPr>
          <a:xfrm>
            <a:off x="3005733" y="6539494"/>
            <a:ext cx="2326481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75" spc="94" kern="0" dirty="0">
                <a:solidFill>
                  <a:srgbClr val="F8EFFF">
                    <a:alpha val="82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の弱いノイズが最適</a:t>
            </a:r>
            <a:endParaRPr lang="en-US" sz="1875" dirty="0"/>
          </a:p>
        </p:txBody>
      </p:sp>
      <p:sp>
        <p:nvSpPr>
          <p:cNvPr id="15" name="Shape 13"/>
          <p:cNvSpPr/>
          <p:nvPr/>
        </p:nvSpPr>
        <p:spPr>
          <a:xfrm>
            <a:off x="9410700" y="4766445"/>
            <a:ext cx="7620000" cy="2771775"/>
          </a:xfrm>
          <a:prstGeom prst="roundRect">
            <a:avLst>
              <a:gd name="adj" fmla="val 2062"/>
            </a:avLst>
          </a:prstGeom>
          <a:solidFill>
            <a:srgbClr val="080410">
              <a:alpha val="59000"/>
            </a:srgbClr>
          </a:solidFill>
          <a:ln w="9525">
            <a:solidFill>
              <a:srgbClr val="B58EFF">
                <a:alpha val="1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744075" y="6004642"/>
            <a:ext cx="6953250" cy="9525"/>
          </a:xfrm>
          <a:prstGeom prst="rect">
            <a:avLst/>
          </a:prstGeom>
          <a:solidFill>
            <a:srgbClr val="B58EFF">
              <a:alpha val="1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9744075" y="5547442"/>
            <a:ext cx="118377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179" kern="0" dirty="0">
                <a:solidFill>
                  <a:srgbClr val="B58EFF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推奨ノイズ量</a:t>
            </a:r>
            <a:endParaRPr lang="en-US" sz="1275" dirty="0"/>
          </a:p>
        </p:txBody>
      </p:sp>
      <p:sp>
        <p:nvSpPr>
          <p:cNvPr id="18" name="Text 16"/>
          <p:cNvSpPr/>
          <p:nvPr/>
        </p:nvSpPr>
        <p:spPr>
          <a:xfrm>
            <a:off x="14340334" y="5195017"/>
            <a:ext cx="2433191" cy="714375"/>
          </a:xfrm>
          <a:prstGeom prst="rect">
            <a:avLst/>
          </a:prstGeom>
          <a:noFill/>
          <a:ln/>
          <a:effectLst>
            <a:outerShdw sx="100000" sy="100000" kx="0" ky="0" algn="bl" rotWithShape="0" blurRad="152400" dist="50800" dir="16200000">
              <a:srgbClr val="5AE9FF">
                <a:alpha val="55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b="1" spc="81" kern="0" dirty="0">
                <a:solidFill>
                  <a:srgbClr val="5AE9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0.3–1.0</a:t>
            </a:r>
            <a:pPr algn="l" indent="0" marL="0">
              <a:buNone/>
            </a:pPr>
            <a:r>
              <a:rPr lang="en-US" sz="1500" b="1" spc="81" kern="0" dirty="0">
                <a:solidFill>
                  <a:srgbClr val="5AE9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%</a:t>
            </a:r>
            <a:endParaRPr lang="en-US" sz="4050" dirty="0"/>
          </a:p>
        </p:txBody>
      </p:sp>
      <p:sp>
        <p:nvSpPr>
          <p:cNvPr id="19" name="Shape 17"/>
          <p:cNvSpPr/>
          <p:nvPr/>
        </p:nvSpPr>
        <p:spPr>
          <a:xfrm>
            <a:off x="9744075" y="6623714"/>
            <a:ext cx="6953250" cy="9525"/>
          </a:xfrm>
          <a:prstGeom prst="rect">
            <a:avLst/>
          </a:prstGeom>
          <a:solidFill>
            <a:srgbClr val="B58EFF">
              <a:alpha val="1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9744075" y="6223664"/>
            <a:ext cx="44544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179" kern="0" dirty="0">
                <a:solidFill>
                  <a:srgbClr val="B58EFF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役割</a:t>
            </a:r>
            <a:endParaRPr lang="en-US" sz="1275" dirty="0"/>
          </a:p>
        </p:txBody>
      </p:sp>
      <p:sp>
        <p:nvSpPr>
          <p:cNvPr id="21" name="Text 19"/>
          <p:cNvSpPr/>
          <p:nvPr/>
        </p:nvSpPr>
        <p:spPr>
          <a:xfrm>
            <a:off x="15414873" y="6166514"/>
            <a:ext cx="1358652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33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統一感の付与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9744075" y="6842789"/>
            <a:ext cx="118377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179" kern="0" dirty="0">
                <a:solidFill>
                  <a:srgbClr val="B58EFF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過剰にすると</a:t>
            </a:r>
            <a:endParaRPr lang="en-US" sz="1275" dirty="0"/>
          </a:p>
        </p:txBody>
      </p:sp>
      <p:sp>
        <p:nvSpPr>
          <p:cNvPr id="23" name="Text 21"/>
          <p:cNvSpPr/>
          <p:nvPr/>
        </p:nvSpPr>
        <p:spPr>
          <a:xfrm>
            <a:off x="15368736" y="6785639"/>
            <a:ext cx="140478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33" kern="0" dirty="0">
                <a:solidFill>
                  <a:srgbClr val="FF4FA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“汚れ”になる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0" y="9753600"/>
            <a:ext cx="18288000" cy="533400"/>
          </a:xfrm>
          <a:prstGeom prst="rect">
            <a:avLst/>
          </a:prstGeom>
          <a:solidFill>
            <a:srgbClr val="FF4FA8">
              <a:alpha val="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9753600"/>
            <a:ext cx="18288000" cy="9525"/>
          </a:xfrm>
          <a:prstGeom prst="rect">
            <a:avLst/>
          </a:prstGeom>
          <a:solidFill>
            <a:srgbClr val="FFD27A">
              <a:alpha val="13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419100" y="9934575"/>
            <a:ext cx="127649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DEEP PRISM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752749" y="10001250"/>
            <a:ext cx="47625" cy="47625"/>
          </a:xfrm>
          <a:prstGeom prst="ellipse">
            <a:avLst/>
          </a:prstGeom>
          <a:solidFill>
            <a:srgbClr val="FF4FA8"/>
          </a:solidFill>
          <a:ln/>
          <a:effectLst>
            <a:outerShdw sx="100000" sy="100000" kx="0" ky="0" algn="bl" rotWithShape="0" blurRad="76200" dist="50800" dir="16200000">
              <a:srgbClr val="FF4FA8">
                <a:alpha val="10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1933724" y="9929813"/>
            <a:ext cx="252984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F8EFFF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幽ヶ崎 海月 · AE LYRIC MV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5468600" y="9934575"/>
            <a:ext cx="24765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 06 — 06 / </a:t>
            </a:r>
            <a:pPr algn="l" indent="0" marL="0">
              <a:buNone/>
            </a:pPr>
            <a:r>
              <a:rPr lang="en-US" sz="1050" spc="315" kern="0" dirty="0">
                <a:solidFill>
                  <a:srgbClr val="B58EFF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13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B850FF">
              <a:alpha val="2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-285750" y="5048250"/>
            <a:ext cx="2496592" cy="6324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750"/>
              </a:lnSpc>
              <a:buNone/>
            </a:pPr>
            <a:r>
              <a:rPr lang="en-US" sz="40000" b="1" i="1" spc="-1980" kern="0" dirty="0">
                <a:solidFill>
                  <a:srgbClr val="000000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6</a:t>
            </a:r>
            <a:endParaRPr lang="en-US" sz="40000" dirty="0"/>
          </a:p>
        </p:txBody>
      </p:sp>
      <p:sp>
        <p:nvSpPr>
          <p:cNvPr id="4" name="Text 2"/>
          <p:cNvSpPr/>
          <p:nvPr/>
        </p:nvSpPr>
        <p:spPr>
          <a:xfrm>
            <a:off x="1257300" y="1009650"/>
            <a:ext cx="289620" cy="24765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50800" dir="16200000">
              <a:srgbClr val="FF4FA8">
                <a:alpha val="5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FF4FA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623120" y="1109663"/>
            <a:ext cx="514350" cy="9525"/>
          </a:xfrm>
          <a:prstGeom prst="rect">
            <a:avLst/>
          </a:prstGeom>
          <a:solidFill>
            <a:srgbClr val="FFD27A"/>
          </a:solidFill>
          <a:ln/>
        </p:spPr>
      </p:sp>
      <p:sp>
        <p:nvSpPr>
          <p:cNvPr id="6" name="Text 4"/>
          <p:cNvSpPr/>
          <p:nvPr/>
        </p:nvSpPr>
        <p:spPr>
          <a:xfrm>
            <a:off x="2289870" y="990600"/>
            <a:ext cx="380264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599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FINAL COMP STRUCTURE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1257300" y="1390650"/>
            <a:ext cx="7933218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5400" b="1" i="1" spc="-54" kern="0" dirty="0">
                <a:solidFill>
                  <a:srgbClr val="F8E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最終コンポ構造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1257300" y="2105025"/>
            <a:ext cx="793321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315" kern="0" dirty="0">
                <a:solidFill>
                  <a:srgbClr val="B58E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順番が崩れると画面が破綻する — 上から順に重ねる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1257300" y="3743941"/>
            <a:ext cx="6349901" cy="542925"/>
          </a:xfrm>
          <a:prstGeom prst="roundRect">
            <a:avLst>
              <a:gd name="adj" fmla="val 8772"/>
            </a:avLst>
          </a:prstGeom>
          <a:solidFill>
            <a:srgbClr val="FF4FA8">
              <a:alpha val="5000"/>
            </a:srgbClr>
          </a:solidFill>
          <a:ln w="9525">
            <a:solidFill>
              <a:srgbClr val="FF4FA8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57325" y="3929678"/>
            <a:ext cx="3619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95" kern="0" dirty="0">
                <a:solidFill>
                  <a:srgbClr val="B58E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1895475" y="3929678"/>
            <a:ext cx="13144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2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GRAIN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3286125" y="3877291"/>
            <a:ext cx="8001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グレイン</a:t>
            </a:r>
            <a:endParaRPr lang="en-US" sz="1425" dirty="0"/>
          </a:p>
        </p:txBody>
      </p:sp>
      <p:sp>
        <p:nvSpPr>
          <p:cNvPr id="13" name="Shape 11"/>
          <p:cNvSpPr/>
          <p:nvPr/>
        </p:nvSpPr>
        <p:spPr>
          <a:xfrm>
            <a:off x="1257300" y="4353541"/>
            <a:ext cx="6349901" cy="542925"/>
          </a:xfrm>
          <a:prstGeom prst="roundRect">
            <a:avLst>
              <a:gd name="adj" fmla="val 8772"/>
            </a:avLst>
          </a:prstGeom>
          <a:solidFill>
            <a:srgbClr val="FF4FA8">
              <a:alpha val="5000"/>
            </a:srgbClr>
          </a:solidFill>
          <a:ln w="9525">
            <a:solidFill>
              <a:srgbClr val="FF4FA8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57325" y="4539261"/>
            <a:ext cx="3619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95" kern="0" dirty="0">
                <a:solidFill>
                  <a:srgbClr val="B58E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1895475" y="4539261"/>
            <a:ext cx="13144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2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GRADE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3286125" y="4486874"/>
            <a:ext cx="18859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カラーグレーディング</a:t>
            </a:r>
            <a:endParaRPr lang="en-US" sz="1425" dirty="0"/>
          </a:p>
        </p:txBody>
      </p:sp>
      <p:sp>
        <p:nvSpPr>
          <p:cNvPr id="17" name="Shape 15"/>
          <p:cNvSpPr/>
          <p:nvPr/>
        </p:nvSpPr>
        <p:spPr>
          <a:xfrm>
            <a:off x="1257300" y="4963123"/>
            <a:ext cx="6349901" cy="542925"/>
          </a:xfrm>
          <a:prstGeom prst="roundRect">
            <a:avLst>
              <a:gd name="adj" fmla="val 8772"/>
            </a:avLst>
          </a:prstGeom>
          <a:solidFill>
            <a:srgbClr val="FF4FA8">
              <a:alpha val="5000"/>
            </a:srgbClr>
          </a:solidFill>
          <a:ln w="9525">
            <a:solidFill>
              <a:srgbClr val="5AE9FF">
                <a:alpha val="40000"/>
              </a:srgbClr>
            </a:solidFill>
            <a:prstDash val="solid"/>
          </a:ln>
          <a:effectLst>
            <a:outerShdw sx="100000" sy="100000" kx="0" ky="0" algn="bl" rotWithShape="0" blurRad="152400" dist="50800" dir="16200000">
              <a:srgbClr val="5AE9FF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457325" y="5148861"/>
            <a:ext cx="3619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95" kern="0" dirty="0">
                <a:solidFill>
                  <a:srgbClr val="B58E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1895475" y="5148861"/>
            <a:ext cx="13144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2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FX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3286125" y="5096473"/>
            <a:ext cx="335527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撮影効果（グロー・色収差・シェイク）</a:t>
            </a:r>
            <a:endParaRPr lang="en-US" sz="1425" dirty="0"/>
          </a:p>
        </p:txBody>
      </p:sp>
      <p:sp>
        <p:nvSpPr>
          <p:cNvPr id="21" name="Shape 19"/>
          <p:cNvSpPr/>
          <p:nvPr/>
        </p:nvSpPr>
        <p:spPr>
          <a:xfrm>
            <a:off x="1257300" y="5572723"/>
            <a:ext cx="6349901" cy="542925"/>
          </a:xfrm>
          <a:prstGeom prst="roundRect">
            <a:avLst>
              <a:gd name="adj" fmla="val 8772"/>
            </a:avLst>
          </a:prstGeom>
          <a:solidFill>
            <a:srgbClr val="FF4FA8">
              <a:alpha val="5000"/>
            </a:srgbClr>
          </a:solidFill>
          <a:ln w="9525">
            <a:solidFill>
              <a:srgbClr val="FFD27A">
                <a:alpha val="2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457325" y="5758461"/>
            <a:ext cx="3619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95" kern="0" dirty="0">
                <a:solidFill>
                  <a:srgbClr val="B58E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1895475" y="5758461"/>
            <a:ext cx="13144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2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TEXT</a:t>
            </a:r>
            <a:endParaRPr lang="en-US" sz="975" dirty="0"/>
          </a:p>
        </p:txBody>
      </p:sp>
      <p:sp>
        <p:nvSpPr>
          <p:cNvPr id="24" name="Text 22"/>
          <p:cNvSpPr/>
          <p:nvPr/>
        </p:nvSpPr>
        <p:spPr>
          <a:xfrm>
            <a:off x="3286125" y="5706073"/>
            <a:ext cx="15240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歌詞（テキスト）</a:t>
            </a:r>
            <a:endParaRPr lang="en-US" sz="1425" dirty="0"/>
          </a:p>
        </p:txBody>
      </p:sp>
      <p:sp>
        <p:nvSpPr>
          <p:cNvPr id="25" name="Shape 23"/>
          <p:cNvSpPr/>
          <p:nvPr/>
        </p:nvSpPr>
        <p:spPr>
          <a:xfrm>
            <a:off x="1257300" y="6182323"/>
            <a:ext cx="6349901" cy="542925"/>
          </a:xfrm>
          <a:prstGeom prst="roundRect">
            <a:avLst>
              <a:gd name="adj" fmla="val 8772"/>
            </a:avLst>
          </a:prstGeom>
          <a:solidFill>
            <a:srgbClr val="FF4FA8">
              <a:alpha val="5000"/>
            </a:srgbClr>
          </a:solidFill>
          <a:ln w="9525">
            <a:solidFill>
              <a:srgbClr val="FFD27A">
                <a:alpha val="2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457325" y="6368061"/>
            <a:ext cx="3619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95" kern="0" dirty="0">
                <a:solidFill>
                  <a:srgbClr val="B58E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975" dirty="0"/>
          </a:p>
        </p:txBody>
      </p:sp>
      <p:sp>
        <p:nvSpPr>
          <p:cNvPr id="27" name="Text 25"/>
          <p:cNvSpPr/>
          <p:nvPr/>
        </p:nvSpPr>
        <p:spPr>
          <a:xfrm>
            <a:off x="1895475" y="6368061"/>
            <a:ext cx="13144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2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CHARA</a:t>
            </a:r>
            <a:endParaRPr lang="en-US" sz="975" dirty="0"/>
          </a:p>
        </p:txBody>
      </p:sp>
      <p:sp>
        <p:nvSpPr>
          <p:cNvPr id="28" name="Text 26"/>
          <p:cNvSpPr/>
          <p:nvPr/>
        </p:nvSpPr>
        <p:spPr>
          <a:xfrm>
            <a:off x="3286125" y="6315673"/>
            <a:ext cx="11620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キャラクター</a:t>
            </a:r>
            <a:endParaRPr lang="en-US" sz="1425" dirty="0"/>
          </a:p>
        </p:txBody>
      </p:sp>
      <p:sp>
        <p:nvSpPr>
          <p:cNvPr id="29" name="Shape 27"/>
          <p:cNvSpPr/>
          <p:nvPr/>
        </p:nvSpPr>
        <p:spPr>
          <a:xfrm>
            <a:off x="1257300" y="6791906"/>
            <a:ext cx="6349901" cy="542925"/>
          </a:xfrm>
          <a:prstGeom prst="roundRect">
            <a:avLst>
              <a:gd name="adj" fmla="val 8772"/>
            </a:avLst>
          </a:prstGeom>
          <a:solidFill>
            <a:srgbClr val="FF4FA8">
              <a:alpha val="5000"/>
            </a:srgbClr>
          </a:solidFill>
          <a:ln w="9525">
            <a:solidFill>
              <a:srgbClr val="FFD27A">
                <a:alpha val="2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457325" y="6977644"/>
            <a:ext cx="3619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95" kern="0" dirty="0">
                <a:solidFill>
                  <a:srgbClr val="B58E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975" dirty="0"/>
          </a:p>
        </p:txBody>
      </p:sp>
      <p:sp>
        <p:nvSpPr>
          <p:cNvPr id="31" name="Text 29"/>
          <p:cNvSpPr/>
          <p:nvPr/>
        </p:nvSpPr>
        <p:spPr>
          <a:xfrm>
            <a:off x="1895475" y="6977644"/>
            <a:ext cx="13144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2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FG</a:t>
            </a:r>
            <a:endParaRPr lang="en-US" sz="975" dirty="0"/>
          </a:p>
        </p:txBody>
      </p:sp>
      <p:sp>
        <p:nvSpPr>
          <p:cNvPr id="32" name="Text 30"/>
          <p:cNvSpPr/>
          <p:nvPr/>
        </p:nvSpPr>
        <p:spPr>
          <a:xfrm>
            <a:off x="3286125" y="6925256"/>
            <a:ext cx="98107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前景・装飾</a:t>
            </a:r>
            <a:endParaRPr lang="en-US" sz="1425" dirty="0"/>
          </a:p>
        </p:txBody>
      </p:sp>
      <p:sp>
        <p:nvSpPr>
          <p:cNvPr id="33" name="Shape 31"/>
          <p:cNvSpPr/>
          <p:nvPr/>
        </p:nvSpPr>
        <p:spPr>
          <a:xfrm>
            <a:off x="1257300" y="7401506"/>
            <a:ext cx="6349901" cy="542925"/>
          </a:xfrm>
          <a:prstGeom prst="roundRect">
            <a:avLst>
              <a:gd name="adj" fmla="val 8772"/>
            </a:avLst>
          </a:prstGeom>
          <a:solidFill>
            <a:srgbClr val="FF4FA8">
              <a:alpha val="5000"/>
            </a:srgbClr>
          </a:solidFill>
          <a:ln w="9525">
            <a:solidFill>
              <a:srgbClr val="FFD27A">
                <a:alpha val="2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457325" y="7587244"/>
            <a:ext cx="3619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95" kern="0" dirty="0">
                <a:solidFill>
                  <a:srgbClr val="B58E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975" dirty="0"/>
          </a:p>
        </p:txBody>
      </p:sp>
      <p:sp>
        <p:nvSpPr>
          <p:cNvPr id="35" name="Text 33"/>
          <p:cNvSpPr/>
          <p:nvPr/>
        </p:nvSpPr>
        <p:spPr>
          <a:xfrm>
            <a:off x="1895475" y="7587244"/>
            <a:ext cx="13144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2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MG</a:t>
            </a:r>
            <a:endParaRPr lang="en-US" sz="975" dirty="0"/>
          </a:p>
        </p:txBody>
      </p:sp>
      <p:sp>
        <p:nvSpPr>
          <p:cNvPr id="36" name="Text 34"/>
          <p:cNvSpPr/>
          <p:nvPr/>
        </p:nvSpPr>
        <p:spPr>
          <a:xfrm>
            <a:off x="3286125" y="7534856"/>
            <a:ext cx="170497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中景・パララックス</a:t>
            </a:r>
            <a:endParaRPr lang="en-US" sz="1425" dirty="0"/>
          </a:p>
        </p:txBody>
      </p:sp>
      <p:sp>
        <p:nvSpPr>
          <p:cNvPr id="37" name="Shape 35"/>
          <p:cNvSpPr/>
          <p:nvPr/>
        </p:nvSpPr>
        <p:spPr>
          <a:xfrm>
            <a:off x="1257300" y="8011106"/>
            <a:ext cx="6349901" cy="542925"/>
          </a:xfrm>
          <a:prstGeom prst="roundRect">
            <a:avLst>
              <a:gd name="adj" fmla="val 8772"/>
            </a:avLst>
          </a:prstGeom>
          <a:solidFill>
            <a:srgbClr val="FF4FA8">
              <a:alpha val="5000"/>
            </a:srgbClr>
          </a:solidFill>
          <a:ln w="9525">
            <a:solidFill>
              <a:srgbClr val="FFD27A">
                <a:alpha val="2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457325" y="8196844"/>
            <a:ext cx="3619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95" kern="0" dirty="0">
                <a:solidFill>
                  <a:srgbClr val="B58E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975" dirty="0"/>
          </a:p>
        </p:txBody>
      </p:sp>
      <p:sp>
        <p:nvSpPr>
          <p:cNvPr id="39" name="Text 37"/>
          <p:cNvSpPr/>
          <p:nvPr/>
        </p:nvSpPr>
        <p:spPr>
          <a:xfrm>
            <a:off x="1895475" y="8196844"/>
            <a:ext cx="13144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2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BG</a:t>
            </a:r>
            <a:endParaRPr lang="en-US" sz="975" dirty="0"/>
          </a:p>
        </p:txBody>
      </p:sp>
      <p:sp>
        <p:nvSpPr>
          <p:cNvPr id="40" name="Text 38"/>
          <p:cNvSpPr/>
          <p:nvPr/>
        </p:nvSpPr>
        <p:spPr>
          <a:xfrm>
            <a:off x="3286125" y="8144456"/>
            <a:ext cx="4381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背景</a:t>
            </a:r>
            <a:endParaRPr lang="en-US" sz="1425" dirty="0"/>
          </a:p>
        </p:txBody>
      </p:sp>
      <p:sp>
        <p:nvSpPr>
          <p:cNvPr id="41" name="Shape 39"/>
          <p:cNvSpPr/>
          <p:nvPr/>
        </p:nvSpPr>
        <p:spPr>
          <a:xfrm>
            <a:off x="8140601" y="5442720"/>
            <a:ext cx="8890099" cy="1419225"/>
          </a:xfrm>
          <a:prstGeom prst="rect">
            <a:avLst/>
          </a:prstGeom>
          <a:solidFill>
            <a:srgbClr val="FF4FA8">
              <a:alpha val="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8140601" y="5442720"/>
            <a:ext cx="38100" cy="1419225"/>
          </a:xfrm>
          <a:prstGeom prst="rect">
            <a:avLst/>
          </a:prstGeom>
          <a:solidFill>
            <a:srgbClr val="FFD27A"/>
          </a:solidFill>
          <a:ln/>
        </p:spPr>
      </p:sp>
      <p:sp>
        <p:nvSpPr>
          <p:cNvPr id="43" name="Text 41"/>
          <p:cNvSpPr/>
          <p:nvPr/>
        </p:nvSpPr>
        <p:spPr>
          <a:xfrm>
            <a:off x="8502551" y="5709420"/>
            <a:ext cx="8450428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50" b="1" i="1" dirty="0">
                <a:solidFill>
                  <a:srgbClr val="FFD27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“Order is everything.”</a:t>
            </a:r>
            <a:endParaRPr lang="en-US" sz="2850" dirty="0"/>
          </a:p>
        </p:txBody>
      </p:sp>
      <p:sp>
        <p:nvSpPr>
          <p:cNvPr id="44" name="Text 42"/>
          <p:cNvSpPr/>
          <p:nvPr/>
        </p:nvSpPr>
        <p:spPr>
          <a:xfrm>
            <a:off x="8502551" y="6233242"/>
            <a:ext cx="8450428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b="1" spc="108" kern="0" dirty="0">
                <a:solidFill>
                  <a:srgbClr val="F8EFFF">
                    <a:alpha val="82000"/>
                  </a:srgbClr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グレイン・グレードは必ず“最上層”に置く。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0" y="9753600"/>
            <a:ext cx="18288000" cy="533400"/>
          </a:xfrm>
          <a:prstGeom prst="rect">
            <a:avLst/>
          </a:prstGeom>
          <a:solidFill>
            <a:srgbClr val="FF4FA8">
              <a:alpha val="5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0" y="9753600"/>
            <a:ext cx="18288000" cy="9525"/>
          </a:xfrm>
          <a:prstGeom prst="rect">
            <a:avLst/>
          </a:prstGeom>
          <a:solidFill>
            <a:srgbClr val="FFD27A">
              <a:alpha val="13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419100" y="9934575"/>
            <a:ext cx="127649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DEEP PRISM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1752749" y="10001250"/>
            <a:ext cx="47625" cy="47625"/>
          </a:xfrm>
          <a:prstGeom prst="ellipse">
            <a:avLst/>
          </a:prstGeom>
          <a:solidFill>
            <a:srgbClr val="FF4FA8"/>
          </a:solidFill>
          <a:ln/>
          <a:effectLst>
            <a:outerShdw sx="100000" sy="100000" kx="0" ky="0" algn="bl" rotWithShape="0" blurRad="76200" dist="50800" dir="16200000">
              <a:srgbClr val="FF4FA8">
                <a:alpha val="100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1933724" y="9929813"/>
            <a:ext cx="252984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F8EFFF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幽ヶ崎 海月 · AE LYRIC MV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15468600" y="9934575"/>
            <a:ext cx="24765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 06 — 07 / </a:t>
            </a:r>
            <a:pPr algn="l" indent="0" marL="0">
              <a:buNone/>
            </a:pPr>
            <a:r>
              <a:rPr lang="en-US" sz="1050" spc="315" kern="0" dirty="0">
                <a:solidFill>
                  <a:srgbClr val="B58EFF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13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B850FF">
              <a:alpha val="2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-285750" y="5048250"/>
            <a:ext cx="2496592" cy="6324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750"/>
              </a:lnSpc>
              <a:buNone/>
            </a:pPr>
            <a:r>
              <a:rPr lang="en-US" sz="40000" b="1" i="1" spc="-1980" kern="0" dirty="0">
                <a:solidFill>
                  <a:srgbClr val="000000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6</a:t>
            </a:r>
            <a:endParaRPr lang="en-US" sz="40000" dirty="0"/>
          </a:p>
        </p:txBody>
      </p:sp>
      <p:sp>
        <p:nvSpPr>
          <p:cNvPr id="4" name="Text 2"/>
          <p:cNvSpPr/>
          <p:nvPr/>
        </p:nvSpPr>
        <p:spPr>
          <a:xfrm>
            <a:off x="1257300" y="1009650"/>
            <a:ext cx="289620" cy="24765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50800" dir="16200000">
              <a:srgbClr val="FF4FA8">
                <a:alpha val="5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FF4FA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623120" y="1109663"/>
            <a:ext cx="514350" cy="9525"/>
          </a:xfrm>
          <a:prstGeom prst="rect">
            <a:avLst/>
          </a:prstGeom>
          <a:solidFill>
            <a:srgbClr val="FFD27A"/>
          </a:solidFill>
          <a:ln/>
        </p:spPr>
      </p:sp>
      <p:sp>
        <p:nvSpPr>
          <p:cNvPr id="6" name="Text 4"/>
          <p:cNvSpPr/>
          <p:nvPr/>
        </p:nvSpPr>
        <p:spPr>
          <a:xfrm>
            <a:off x="2289870" y="990600"/>
            <a:ext cx="304211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599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PRE-FLIGHT CHECK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1257300" y="1390650"/>
            <a:ext cx="6993225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5400" b="1" i="1" spc="-54" kern="0" dirty="0">
                <a:solidFill>
                  <a:srgbClr val="F8E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最終チェックポイント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1257300" y="2105025"/>
            <a:ext cx="699322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315" kern="0" dirty="0">
                <a:solidFill>
                  <a:srgbClr val="B58E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“違和感ゼロ”が完成の基準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1257300" y="5515399"/>
            <a:ext cx="266700" cy="266700"/>
          </a:xfrm>
          <a:prstGeom prst="roundRect">
            <a:avLst>
              <a:gd name="adj" fmla="val 14286"/>
            </a:avLst>
          </a:prstGeom>
          <a:ln w="14288">
            <a:solidFill>
              <a:srgbClr val="B58EFF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95450" y="5477299"/>
            <a:ext cx="174054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72" kern="0" dirty="0">
                <a:solidFill>
                  <a:srgbClr val="F8EF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音ズレ</a:t>
            </a:r>
            <a:pPr algn="l" indent="0" marL="0">
              <a:buNone/>
            </a:pPr>
            <a:r>
              <a:rPr lang="en-US" sz="1800" spc="72" kern="0" dirty="0">
                <a:solidFill>
                  <a:srgbClr val="F8EF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がないか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410700" y="5515385"/>
            <a:ext cx="266700" cy="266700"/>
          </a:xfrm>
          <a:prstGeom prst="roundRect">
            <a:avLst>
              <a:gd name="adj" fmla="val 14286"/>
            </a:avLst>
          </a:prstGeom>
          <a:ln w="14288">
            <a:solidFill>
              <a:srgbClr val="B58EFF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48850" y="5477285"/>
            <a:ext cx="269366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F8EF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歌詞の</a:t>
            </a:r>
            <a:pPr algn="l" indent="0" marL="0">
              <a:buNone/>
            </a:pPr>
            <a:r>
              <a:rPr lang="en-US" sz="1800" b="1" spc="72" kern="0" dirty="0">
                <a:solidFill>
                  <a:srgbClr val="F8EF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誤字・タイミング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257300" y="6020210"/>
            <a:ext cx="266700" cy="266700"/>
          </a:xfrm>
          <a:prstGeom prst="roundRect">
            <a:avLst>
              <a:gd name="adj" fmla="val 14286"/>
            </a:avLst>
          </a:prstGeom>
          <a:ln w="14288">
            <a:solidFill>
              <a:srgbClr val="B58EFF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95450" y="5982110"/>
            <a:ext cx="318343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F8EF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カメラの揺れが</a:t>
            </a:r>
            <a:pPr algn="l" indent="0" marL="0">
              <a:buNone/>
            </a:pPr>
            <a:r>
              <a:rPr lang="en-US" sz="1800" b="1" spc="72" kern="0" dirty="0">
                <a:solidFill>
                  <a:srgbClr val="F8EF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強すぎないか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410700" y="6020210"/>
            <a:ext cx="266700" cy="266700"/>
          </a:xfrm>
          <a:prstGeom prst="roundRect">
            <a:avLst>
              <a:gd name="adj" fmla="val 14286"/>
            </a:avLst>
          </a:prstGeom>
          <a:ln w="14288">
            <a:solidFill>
              <a:srgbClr val="B58EFF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48850" y="5982110"/>
            <a:ext cx="245372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72" kern="0" dirty="0">
                <a:solidFill>
                  <a:srgbClr val="F8EF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色</a:t>
            </a:r>
            <a:pPr algn="l" indent="0" marL="0">
              <a:buNone/>
            </a:pPr>
            <a:r>
              <a:rPr lang="en-US" sz="1800" spc="72" kern="0" dirty="0">
                <a:solidFill>
                  <a:srgbClr val="F8EF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が破綻していないか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257300" y="6525035"/>
            <a:ext cx="266700" cy="266700"/>
          </a:xfrm>
          <a:prstGeom prst="roundRect">
            <a:avLst>
              <a:gd name="adj" fmla="val 14286"/>
            </a:avLst>
          </a:prstGeom>
          <a:ln w="14288">
            <a:solidFill>
              <a:srgbClr val="B58EFF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95450" y="6486935"/>
            <a:ext cx="245372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F8EF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画面の</a:t>
            </a:r>
            <a:pPr algn="l" indent="0" marL="0">
              <a:buNone/>
            </a:pPr>
            <a:r>
              <a:rPr lang="en-US" sz="1800" b="1" spc="72" kern="0" dirty="0">
                <a:solidFill>
                  <a:srgbClr val="F8EF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明るさ</a:t>
            </a:r>
            <a:pPr algn="l" indent="0" marL="0">
              <a:buNone/>
            </a:pPr>
            <a:r>
              <a:rPr lang="en-US" sz="1800" spc="72" kern="0" dirty="0">
                <a:solidFill>
                  <a:srgbClr val="F8EF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が適切か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410700" y="6525021"/>
            <a:ext cx="266700" cy="266700"/>
          </a:xfrm>
          <a:prstGeom prst="roundRect">
            <a:avLst>
              <a:gd name="adj" fmla="val 14286"/>
            </a:avLst>
          </a:prstGeom>
          <a:ln w="14288">
            <a:solidFill>
              <a:srgbClr val="B58EFF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48850" y="6486921"/>
            <a:ext cx="367320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72" kern="0" dirty="0">
                <a:solidFill>
                  <a:srgbClr val="F8EF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パララックス</a:t>
            </a:r>
            <a:pPr algn="l" indent="0" marL="0">
              <a:buNone/>
            </a:pPr>
            <a:r>
              <a:rPr lang="en-US" sz="1800" spc="72" kern="0" dirty="0">
                <a:solidFill>
                  <a:srgbClr val="F8EF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が破綻していないか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0" y="9753600"/>
            <a:ext cx="18288000" cy="533400"/>
          </a:xfrm>
          <a:prstGeom prst="rect">
            <a:avLst/>
          </a:prstGeom>
          <a:solidFill>
            <a:srgbClr val="FF4FA8">
              <a:alpha val="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0" y="9753600"/>
            <a:ext cx="18288000" cy="9525"/>
          </a:xfrm>
          <a:prstGeom prst="rect">
            <a:avLst/>
          </a:prstGeom>
          <a:solidFill>
            <a:srgbClr val="FFD27A">
              <a:alpha val="13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419100" y="9934575"/>
            <a:ext cx="127649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DEEP PRISM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752749" y="10001250"/>
            <a:ext cx="47625" cy="47625"/>
          </a:xfrm>
          <a:prstGeom prst="ellipse">
            <a:avLst/>
          </a:prstGeom>
          <a:solidFill>
            <a:srgbClr val="FF4FA8"/>
          </a:solidFill>
          <a:ln/>
          <a:effectLst>
            <a:outerShdw sx="100000" sy="100000" kx="0" ky="0" algn="bl" rotWithShape="0" blurRad="76200" dist="50800" dir="16200000">
              <a:srgbClr val="FF4FA8">
                <a:alpha val="10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933724" y="9929813"/>
            <a:ext cx="252984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F8EFFF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幽ヶ崎 海月 · AE LYRIC MV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5468600" y="9934575"/>
            <a:ext cx="24765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 06 — 08 / </a:t>
            </a:r>
            <a:pPr algn="l" indent="0" marL="0">
              <a:buNone/>
            </a:pPr>
            <a:r>
              <a:rPr lang="en-US" sz="1050" spc="315" kern="0" dirty="0">
                <a:solidFill>
                  <a:srgbClr val="B58EFF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13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B850FF">
              <a:alpha val="2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-285750" y="5048250"/>
            <a:ext cx="2496592" cy="6324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750"/>
              </a:lnSpc>
              <a:buNone/>
            </a:pPr>
            <a:r>
              <a:rPr lang="en-US" sz="40000" b="1" i="1" spc="-1980" kern="0" dirty="0">
                <a:solidFill>
                  <a:srgbClr val="000000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6</a:t>
            </a:r>
            <a:endParaRPr lang="en-US" sz="40000" dirty="0"/>
          </a:p>
        </p:txBody>
      </p:sp>
      <p:sp>
        <p:nvSpPr>
          <p:cNvPr id="4" name="Text 2"/>
          <p:cNvSpPr/>
          <p:nvPr/>
        </p:nvSpPr>
        <p:spPr>
          <a:xfrm>
            <a:off x="1257300" y="1009650"/>
            <a:ext cx="289620" cy="24765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50800" dir="16200000">
              <a:srgbClr val="FF4FA8">
                <a:alpha val="5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FF4FA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623120" y="1109663"/>
            <a:ext cx="514350" cy="9525"/>
          </a:xfrm>
          <a:prstGeom prst="rect">
            <a:avLst/>
          </a:prstGeom>
          <a:solidFill>
            <a:srgbClr val="FFD27A"/>
          </a:solidFill>
          <a:ln/>
        </p:spPr>
      </p:sp>
      <p:sp>
        <p:nvSpPr>
          <p:cNvPr id="6" name="Text 4"/>
          <p:cNvSpPr/>
          <p:nvPr/>
        </p:nvSpPr>
        <p:spPr>
          <a:xfrm>
            <a:off x="2289870" y="990600"/>
            <a:ext cx="418291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599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EXPORT · YOUTUBE 1080P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1257300" y="1390650"/>
            <a:ext cx="6974830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5400" b="1" i="1" spc="-54" kern="0" dirty="0">
                <a:solidFill>
                  <a:srgbClr val="F8E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書き出し設定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1257300" y="2105025"/>
            <a:ext cx="697483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315" kern="0" dirty="0">
                <a:solidFill>
                  <a:srgbClr val="B58E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YouTubeは“高ビットレートほど綺麗に残る”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1257300" y="4610524"/>
            <a:ext cx="7620000" cy="3076575"/>
          </a:xfrm>
          <a:prstGeom prst="roundRect">
            <a:avLst>
              <a:gd name="adj" fmla="val 1858"/>
            </a:avLst>
          </a:prstGeom>
          <a:solidFill>
            <a:srgbClr val="080410">
              <a:alpha val="60000"/>
            </a:srgbClr>
          </a:solidFill>
          <a:ln w="9525">
            <a:solidFill>
              <a:srgbClr val="B58EFF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90675" y="5505874"/>
            <a:ext cx="6953250" cy="9525"/>
          </a:xfrm>
          <a:prstGeom prst="rect">
            <a:avLst/>
          </a:prstGeom>
          <a:solidFill>
            <a:srgbClr val="B58EFF">
              <a:alpha val="1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590675" y="5124874"/>
            <a:ext cx="79518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179" kern="0" dirty="0">
                <a:solidFill>
                  <a:srgbClr val="B58EFF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FORMAT</a:t>
            </a:r>
            <a:endParaRPr lang="en-US" sz="1275" dirty="0"/>
          </a:p>
        </p:txBody>
      </p:sp>
      <p:sp>
        <p:nvSpPr>
          <p:cNvPr id="12" name="Text 10"/>
          <p:cNvSpPr/>
          <p:nvPr/>
        </p:nvSpPr>
        <p:spPr>
          <a:xfrm>
            <a:off x="7776121" y="5039149"/>
            <a:ext cx="84400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9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H.264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1590675" y="6086899"/>
            <a:ext cx="6953250" cy="9525"/>
          </a:xfrm>
          <a:prstGeom prst="rect">
            <a:avLst/>
          </a:prstGeom>
          <a:solidFill>
            <a:srgbClr val="B58EFF">
              <a:alpha val="1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590675" y="5715424"/>
            <a:ext cx="79518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179" kern="0" dirty="0">
                <a:solidFill>
                  <a:srgbClr val="B58EFF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PRESET</a:t>
            </a:r>
            <a:endParaRPr lang="en-US" sz="1275" dirty="0"/>
          </a:p>
        </p:txBody>
      </p:sp>
      <p:sp>
        <p:nvSpPr>
          <p:cNvPr id="15" name="Text 13"/>
          <p:cNvSpPr/>
          <p:nvPr/>
        </p:nvSpPr>
        <p:spPr>
          <a:xfrm>
            <a:off x="6854875" y="5667799"/>
            <a:ext cx="17652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33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YouTube 1080p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1590675" y="6763174"/>
            <a:ext cx="6953250" cy="9525"/>
          </a:xfrm>
          <a:prstGeom prst="rect">
            <a:avLst/>
          </a:prstGeom>
          <a:solidFill>
            <a:srgbClr val="B58EFF">
              <a:alpha val="1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590675" y="6372649"/>
            <a:ext cx="91499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179" kern="0" dirty="0">
                <a:solidFill>
                  <a:srgbClr val="B58EFF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BITRATE</a:t>
            </a:r>
            <a:endParaRPr lang="en-US" sz="1275" dirty="0"/>
          </a:p>
        </p:txBody>
      </p:sp>
      <p:sp>
        <p:nvSpPr>
          <p:cNvPr id="18" name="Text 16"/>
          <p:cNvSpPr/>
          <p:nvPr/>
        </p:nvSpPr>
        <p:spPr>
          <a:xfrm>
            <a:off x="7046565" y="6248824"/>
            <a:ext cx="1573560" cy="419100"/>
          </a:xfrm>
          <a:prstGeom prst="rect">
            <a:avLst/>
          </a:prstGeom>
          <a:noFill/>
          <a:ln/>
          <a:effectLst>
            <a:outerShdw sx="100000" sy="100000" kx="0" ky="0" algn="bl" rotWithShape="0" blurRad="152400" dist="50800" dir="16200000">
              <a:srgbClr val="5AE9FF">
                <a:alpha val="55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45" kern="0" dirty="0">
                <a:solidFill>
                  <a:srgbClr val="5AE9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20–30 </a:t>
            </a:r>
            <a:pPr algn="l" indent="0" marL="0">
              <a:buNone/>
            </a:pPr>
            <a:r>
              <a:rPr lang="en-US" sz="1350" b="1" spc="45" kern="0" dirty="0">
                <a:solidFill>
                  <a:srgbClr val="5AE9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Mbps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590675" y="7010810"/>
            <a:ext cx="1274564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179" kern="0" dirty="0">
                <a:solidFill>
                  <a:srgbClr val="B58EFF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FRAME RATE</a:t>
            </a:r>
            <a:endParaRPr lang="en-US" sz="1275" dirty="0"/>
          </a:p>
        </p:txBody>
      </p:sp>
      <p:sp>
        <p:nvSpPr>
          <p:cNvPr id="20" name="Text 18"/>
          <p:cNvSpPr/>
          <p:nvPr/>
        </p:nvSpPr>
        <p:spPr>
          <a:xfrm>
            <a:off x="7299127" y="6925085"/>
            <a:ext cx="132099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9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29.97 </a:t>
            </a:r>
            <a:pPr algn="l" indent="0" marL="0">
              <a:buNone/>
            </a:pPr>
            <a:r>
              <a:rPr lang="en-US" sz="1350" b="1" spc="39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fps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9410700" y="4470611"/>
            <a:ext cx="7620000" cy="1247775"/>
          </a:xfrm>
          <a:prstGeom prst="roundRect">
            <a:avLst>
              <a:gd name="adj" fmla="val 4580"/>
            </a:avLst>
          </a:prstGeom>
          <a:solidFill>
            <a:srgbClr val="FF4FA8">
              <a:alpha val="5000"/>
            </a:srgbClr>
          </a:solidFill>
          <a:ln w="9525">
            <a:solidFill>
              <a:srgbClr val="FFD27A">
                <a:alpha val="16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705975" y="4746836"/>
            <a:ext cx="724033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⚙ 必ずONにする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705975" y="5070686"/>
            <a:ext cx="2952750" cy="371475"/>
          </a:xfrm>
          <a:prstGeom prst="roundRect">
            <a:avLst>
              <a:gd name="adj" fmla="val 7692"/>
            </a:avLst>
          </a:prstGeom>
          <a:ln w="9525">
            <a:solidFill>
              <a:srgbClr val="FFD27A">
                <a:alpha val="4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67900" y="5156411"/>
            <a:ext cx="271748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2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RENDER AT MAXIMUM DEPTH</a:t>
            </a:r>
            <a:endParaRPr lang="en-US" sz="1125" dirty="0"/>
          </a:p>
        </p:txBody>
      </p:sp>
      <p:sp>
        <p:nvSpPr>
          <p:cNvPr id="25" name="Shape 23"/>
          <p:cNvSpPr/>
          <p:nvPr/>
        </p:nvSpPr>
        <p:spPr>
          <a:xfrm>
            <a:off x="12773025" y="5070686"/>
            <a:ext cx="3295650" cy="371475"/>
          </a:xfrm>
          <a:prstGeom prst="roundRect">
            <a:avLst>
              <a:gd name="adj" fmla="val 7692"/>
            </a:avLst>
          </a:prstGeom>
          <a:ln w="9525">
            <a:solidFill>
              <a:srgbClr val="FFD27A">
                <a:alpha val="4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934950" y="5156411"/>
            <a:ext cx="307067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2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USE MAXIMUM RENDER QUALITY</a:t>
            </a:r>
            <a:endParaRPr lang="en-US" sz="1125" dirty="0"/>
          </a:p>
        </p:txBody>
      </p:sp>
      <p:sp>
        <p:nvSpPr>
          <p:cNvPr id="27" name="Shape 25"/>
          <p:cNvSpPr/>
          <p:nvPr/>
        </p:nvSpPr>
        <p:spPr>
          <a:xfrm>
            <a:off x="9410700" y="5870786"/>
            <a:ext cx="7620000" cy="1962150"/>
          </a:xfrm>
          <a:prstGeom prst="roundRect">
            <a:avLst>
              <a:gd name="adj" fmla="val 2913"/>
            </a:avLst>
          </a:prstGeom>
          <a:solidFill>
            <a:srgbClr val="FF4FA8">
              <a:alpha val="5000"/>
            </a:srgbClr>
          </a:solidFill>
          <a:ln w="9525">
            <a:solidFill>
              <a:srgbClr val="FF4FA8">
                <a:alpha val="40000"/>
              </a:srgbClr>
            </a:solidFill>
            <a:prstDash val="solid"/>
          </a:ln>
          <a:effectLst>
            <a:outerShdw sx="100000" sy="100000" kx="0" ky="0" algn="bl" rotWithShape="0" blurRad="247650" dist="50800" dir="16200000">
              <a:srgbClr val="FF4FA8">
                <a:alpha val="16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705975" y="6147011"/>
            <a:ext cx="724033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⚠ 書き出し時の注意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9705975" y="6470861"/>
            <a:ext cx="724033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350" spc="68" kern="0" dirty="0">
                <a:solidFill>
                  <a:srgbClr val="F8EFFF">
                    <a:alpha val="82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黒つぶれ／白飛びがないか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10000804" y="6899438"/>
            <a:ext cx="43624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350" spc="68" kern="0" dirty="0">
                <a:solidFill>
                  <a:srgbClr val="F8EFFF">
                    <a:alpha val="82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音量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10532418" y="6899438"/>
            <a:ext cx="1341834" cy="304800"/>
          </a:xfrm>
          <a:prstGeom prst="rect">
            <a:avLst/>
          </a:prstGeom>
          <a:noFill/>
          <a:ln/>
          <a:effectLst>
            <a:outerShdw sx="100000" sy="100000" kx="0" ky="0" algn="bl" rotWithShape="0" blurRad="114300" dist="50800" dir="16200000">
              <a:srgbClr val="5AE9FF">
                <a:alpha val="55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350" b="1" spc="68" kern="0" dirty="0">
                <a:solidFill>
                  <a:srgbClr val="F8E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-14〜-12 LUFS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9705975" y="7251863"/>
            <a:ext cx="724033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350" spc="68" kern="0" dirty="0">
                <a:solidFill>
                  <a:srgbClr val="F8EFFF">
                    <a:alpha val="82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冒頭1秒は黒にしない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0" y="9753600"/>
            <a:ext cx="18288000" cy="533400"/>
          </a:xfrm>
          <a:prstGeom prst="rect">
            <a:avLst/>
          </a:prstGeom>
          <a:solidFill>
            <a:srgbClr val="FF4FA8">
              <a:alpha val="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0" y="9753600"/>
            <a:ext cx="18288000" cy="9525"/>
          </a:xfrm>
          <a:prstGeom prst="rect">
            <a:avLst/>
          </a:prstGeom>
          <a:solidFill>
            <a:srgbClr val="FFD27A">
              <a:alpha val="13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419100" y="9934575"/>
            <a:ext cx="127649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DEEP PRISM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1752749" y="10001250"/>
            <a:ext cx="47625" cy="47625"/>
          </a:xfrm>
          <a:prstGeom prst="ellipse">
            <a:avLst/>
          </a:prstGeom>
          <a:solidFill>
            <a:srgbClr val="FF4FA8"/>
          </a:solidFill>
          <a:ln/>
          <a:effectLst>
            <a:outerShdw sx="100000" sy="100000" kx="0" ky="0" algn="bl" rotWithShape="0" blurRad="76200" dist="50800" dir="16200000">
              <a:srgbClr val="FF4FA8">
                <a:alpha val="10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1933724" y="9929813"/>
            <a:ext cx="252984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F8EFFF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幽ヶ崎 海月 · AE LYRIC MV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15468600" y="9934575"/>
            <a:ext cx="24765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 06 — 09 / </a:t>
            </a:r>
            <a:pPr algn="l" indent="0" marL="0">
              <a:buNone/>
            </a:pPr>
            <a:r>
              <a:rPr lang="en-US" sz="1050" spc="315" kern="0" dirty="0">
                <a:solidFill>
                  <a:srgbClr val="B58EFF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13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B850FF">
              <a:alpha val="2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-285750" y="5048250"/>
            <a:ext cx="2496592" cy="6324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750"/>
              </a:lnSpc>
              <a:buNone/>
            </a:pPr>
            <a:r>
              <a:rPr lang="en-US" sz="40000" b="1" i="1" spc="-1980" kern="0" dirty="0">
                <a:solidFill>
                  <a:srgbClr val="000000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6</a:t>
            </a:r>
            <a:endParaRPr lang="en-US" sz="40000" dirty="0"/>
          </a:p>
        </p:txBody>
      </p:sp>
      <p:sp>
        <p:nvSpPr>
          <p:cNvPr id="4" name="Text 2"/>
          <p:cNvSpPr/>
          <p:nvPr/>
        </p:nvSpPr>
        <p:spPr>
          <a:xfrm>
            <a:off x="1257300" y="1009650"/>
            <a:ext cx="289620" cy="24765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50800" dir="16200000">
              <a:srgbClr val="FF4FA8">
                <a:alpha val="5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FF4FA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623120" y="1109663"/>
            <a:ext cx="514350" cy="9525"/>
          </a:xfrm>
          <a:prstGeom prst="rect">
            <a:avLst/>
          </a:prstGeom>
          <a:solidFill>
            <a:srgbClr val="FFD27A"/>
          </a:solidFill>
          <a:ln/>
        </p:spPr>
      </p:sp>
      <p:sp>
        <p:nvSpPr>
          <p:cNvPr id="6" name="Text 4"/>
          <p:cNvSpPr/>
          <p:nvPr/>
        </p:nvSpPr>
        <p:spPr>
          <a:xfrm>
            <a:off x="2289870" y="990600"/>
            <a:ext cx="380264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599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THUMBNAIL — THE FACE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1257300" y="1390650"/>
            <a:ext cx="8019675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5400" b="1" i="1" spc="-54" kern="0" dirty="0">
                <a:solidFill>
                  <a:srgbClr val="F8E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サムネイル制作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1257300" y="2105025"/>
            <a:ext cx="801967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315" kern="0" dirty="0">
                <a:solidFill>
                  <a:srgbClr val="B58E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サムネイルは“作品の入口” — 出来で再生数が変わる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555403" y="5110744"/>
            <a:ext cx="1812368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75" spc="94" kern="0" dirty="0">
                <a:solidFill>
                  <a:srgbClr val="F8EFFF">
                    <a:alpha val="82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GPTで生成した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3463082" y="5101219"/>
            <a:ext cx="826294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75" b="1" spc="94" kern="0" dirty="0">
                <a:solidFill>
                  <a:srgbClr val="F8E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キャラ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4384625" y="5110727"/>
            <a:ext cx="826294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75" spc="94" kern="0" dirty="0">
                <a:solidFill>
                  <a:srgbClr val="F8EFFF">
                    <a:alpha val="82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を使用</a:t>
            </a:r>
            <a:endParaRPr lang="en-US" sz="1875" dirty="0"/>
          </a:p>
        </p:txBody>
      </p:sp>
      <p:sp>
        <p:nvSpPr>
          <p:cNvPr id="12" name="Text 10"/>
          <p:cNvSpPr/>
          <p:nvPr/>
        </p:nvSpPr>
        <p:spPr>
          <a:xfrm>
            <a:off x="1555403" y="5672702"/>
            <a:ext cx="2576513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75" b="1" spc="94" kern="0" dirty="0">
                <a:solidFill>
                  <a:srgbClr val="F8E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明るい色・大きい文字</a:t>
            </a:r>
            <a:endParaRPr lang="en-US" sz="1875" dirty="0"/>
          </a:p>
        </p:txBody>
      </p:sp>
      <p:sp>
        <p:nvSpPr>
          <p:cNvPr id="13" name="Text 11"/>
          <p:cNvSpPr/>
          <p:nvPr/>
        </p:nvSpPr>
        <p:spPr>
          <a:xfrm>
            <a:off x="1555403" y="6244202"/>
            <a:ext cx="880914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75" b="1" spc="94" kern="0" dirty="0">
                <a:solidFill>
                  <a:srgbClr val="F8E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3〜5語</a:t>
            </a:r>
            <a:endParaRPr lang="en-US" sz="1875" dirty="0"/>
          </a:p>
        </p:txBody>
      </p:sp>
      <p:sp>
        <p:nvSpPr>
          <p:cNvPr id="14" name="Text 12"/>
          <p:cNvSpPr/>
          <p:nvPr/>
        </p:nvSpPr>
        <p:spPr>
          <a:xfrm>
            <a:off x="2531566" y="6253727"/>
            <a:ext cx="1826419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75" spc="94" kern="0" dirty="0">
                <a:solidFill>
                  <a:srgbClr val="F8EFFF">
                    <a:alpha val="82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の短いタイトル</a:t>
            </a:r>
            <a:endParaRPr lang="en-US" sz="1875" dirty="0"/>
          </a:p>
        </p:txBody>
      </p:sp>
      <p:sp>
        <p:nvSpPr>
          <p:cNvPr id="15" name="Text 13"/>
          <p:cNvSpPr/>
          <p:nvPr/>
        </p:nvSpPr>
        <p:spPr>
          <a:xfrm>
            <a:off x="1555403" y="6815702"/>
            <a:ext cx="157638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75" b="1" spc="94" kern="0" dirty="0">
                <a:solidFill>
                  <a:srgbClr val="F8E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目線がカメラ</a:t>
            </a:r>
            <a:endParaRPr lang="en-US" sz="1875" dirty="0"/>
          </a:p>
        </p:txBody>
      </p:sp>
      <p:sp>
        <p:nvSpPr>
          <p:cNvPr id="16" name="Text 14"/>
          <p:cNvSpPr/>
          <p:nvPr/>
        </p:nvSpPr>
        <p:spPr>
          <a:xfrm>
            <a:off x="3227040" y="6825227"/>
            <a:ext cx="207645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75" spc="94" kern="0" dirty="0">
                <a:solidFill>
                  <a:srgbClr val="F8EFFF">
                    <a:alpha val="82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を見る構図が強い</a:t>
            </a:r>
            <a:endParaRPr lang="en-US" sz="1875" dirty="0"/>
          </a:p>
        </p:txBody>
      </p:sp>
      <p:sp>
        <p:nvSpPr>
          <p:cNvPr id="17" name="Shape 15"/>
          <p:cNvSpPr/>
          <p:nvPr/>
        </p:nvSpPr>
        <p:spPr>
          <a:xfrm>
            <a:off x="8140601" y="3866279"/>
            <a:ext cx="8890099" cy="4572000"/>
          </a:xfrm>
          <a:prstGeom prst="roundRect">
            <a:avLst>
              <a:gd name="adj" fmla="val 1250"/>
            </a:avLst>
          </a:prstGeom>
          <a:solidFill>
            <a:srgbClr val="0B0518">
              <a:alpha val="98000"/>
            </a:srgbClr>
          </a:solidFill>
          <a:ln w="9525">
            <a:solidFill>
              <a:srgbClr val="FFD27A">
                <a:alpha val="28000"/>
              </a:srgbClr>
            </a:solidFill>
            <a:prstDash val="solid"/>
          </a:ln>
          <a:effectLst>
            <a:outerShdw sx="100000" sy="100000" kx="0" ky="0" algn="bl" rotWithShape="0" blurRad="381000" dist="50800" dir="16200000">
              <a:srgbClr val="B850FF">
                <a:alpha val="15749"/>
              </a:srgbClr>
            </a:outerShdw>
          </a:effectLst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50126" y="3875804"/>
            <a:ext cx="8871049" cy="4552950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8283476" y="4009154"/>
            <a:ext cx="1937891" cy="257175"/>
          </a:xfrm>
          <a:prstGeom prst="roundRect">
            <a:avLst>
              <a:gd name="adj" fmla="val 11111"/>
            </a:avLst>
          </a:prstGeom>
          <a:solidFill>
            <a:srgbClr val="0A0514">
              <a:alpha val="70000"/>
            </a:srgbClr>
          </a:solidFill>
          <a:ln w="9525">
            <a:solidFill>
              <a:srgbClr val="FFD27A">
                <a:alpha val="30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388251" y="4056779"/>
            <a:ext cx="180454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216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THUMBNAIL — SAMPLE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8473976" y="5599829"/>
            <a:ext cx="1400919" cy="1143000"/>
          </a:xfrm>
          <a:prstGeom prst="rect">
            <a:avLst/>
          </a:prstGeom>
          <a:noFill/>
          <a:ln/>
          <a:effectLst>
            <a:outerShdw sx="100000" sy="100000" kx="0" ky="0" algn="bl" rotWithShape="0" blurRad="152400" dist="19050" dir="5400000">
              <a:srgbClr val="000000">
                <a:alpha val="8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800" b="1" i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DEEP PRISM</a:t>
            </a:r>
            <a:endParaRPr lang="en-US" sz="4800" dirty="0"/>
          </a:p>
        </p:txBody>
      </p:sp>
      <p:sp>
        <p:nvSpPr>
          <p:cNvPr id="22" name="Shape 19"/>
          <p:cNvSpPr/>
          <p:nvPr/>
        </p:nvSpPr>
        <p:spPr>
          <a:xfrm>
            <a:off x="8150126" y="7799999"/>
            <a:ext cx="8871049" cy="628650"/>
          </a:xfrm>
          <a:prstGeom prst="rect">
            <a:avLst/>
          </a:prstGeom>
          <a:solidFill>
            <a:srgbClr val="07030F">
              <a:alpha val="92000"/>
            </a:srgbClr>
          </a:solidFill>
          <a:ln/>
        </p:spPr>
      </p:sp>
      <p:sp>
        <p:nvSpPr>
          <p:cNvPr id="23" name="Text 20"/>
          <p:cNvSpPr/>
          <p:nvPr/>
        </p:nvSpPr>
        <p:spPr>
          <a:xfrm>
            <a:off x="8359676" y="8085749"/>
            <a:ext cx="871808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10" kern="0" dirty="0">
                <a:solidFill>
                  <a:srgbClr val="F8EFFF">
                    <a:alpha val="78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明るい色・大きな文字・カメラ目線 — クリックされる顔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0" y="9753600"/>
            <a:ext cx="18288000" cy="533400"/>
          </a:xfrm>
          <a:prstGeom prst="rect">
            <a:avLst/>
          </a:prstGeom>
          <a:solidFill>
            <a:srgbClr val="FF4FA8">
              <a:alpha val="5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0" y="9753600"/>
            <a:ext cx="18288000" cy="9525"/>
          </a:xfrm>
          <a:prstGeom prst="rect">
            <a:avLst/>
          </a:prstGeom>
          <a:solidFill>
            <a:srgbClr val="FFD27A">
              <a:alpha val="13000"/>
            </a:srgbClr>
          </a:solidFill>
          <a:ln/>
        </p:spPr>
      </p:sp>
      <p:sp>
        <p:nvSpPr>
          <p:cNvPr id="26" name="Text 23"/>
          <p:cNvSpPr/>
          <p:nvPr/>
        </p:nvSpPr>
        <p:spPr>
          <a:xfrm>
            <a:off x="419100" y="9934575"/>
            <a:ext cx="127649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DEEP PRISM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1752749" y="10001250"/>
            <a:ext cx="47625" cy="47625"/>
          </a:xfrm>
          <a:prstGeom prst="ellipse">
            <a:avLst/>
          </a:prstGeom>
          <a:solidFill>
            <a:srgbClr val="FF4FA8"/>
          </a:solidFill>
          <a:ln/>
          <a:effectLst>
            <a:outerShdw sx="100000" sy="100000" kx="0" ky="0" algn="bl" rotWithShape="0" blurRad="76200" dist="50800" dir="16200000">
              <a:srgbClr val="FF4FA8">
                <a:alpha val="100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1933724" y="9929813"/>
            <a:ext cx="252984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F8EFFF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幽ヶ崎 海月 · AE LYRIC MV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15468600" y="9934575"/>
            <a:ext cx="24765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 06 — 10 / </a:t>
            </a:r>
            <a:pPr algn="l" indent="0" marL="0">
              <a:buNone/>
            </a:pPr>
            <a:r>
              <a:rPr lang="en-US" sz="1050" spc="315" kern="0" dirty="0">
                <a:solidFill>
                  <a:srgbClr val="B58EFF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13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B850FF">
              <a:alpha val="2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-285750" y="5048250"/>
            <a:ext cx="2496592" cy="6324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750"/>
              </a:lnSpc>
              <a:buNone/>
            </a:pPr>
            <a:r>
              <a:rPr lang="en-US" sz="40000" b="1" i="1" spc="-1980" kern="0" dirty="0">
                <a:solidFill>
                  <a:srgbClr val="000000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6</a:t>
            </a:r>
            <a:endParaRPr lang="en-US" sz="40000" dirty="0"/>
          </a:p>
        </p:txBody>
      </p:sp>
      <p:sp>
        <p:nvSpPr>
          <p:cNvPr id="4" name="Text 2"/>
          <p:cNvSpPr/>
          <p:nvPr/>
        </p:nvSpPr>
        <p:spPr>
          <a:xfrm>
            <a:off x="1257300" y="1009650"/>
            <a:ext cx="289620" cy="24765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50800" dir="16200000">
              <a:srgbClr val="FF4FA8">
                <a:alpha val="5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FF4FA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623120" y="1109663"/>
            <a:ext cx="514350" cy="9525"/>
          </a:xfrm>
          <a:prstGeom prst="rect">
            <a:avLst/>
          </a:prstGeom>
          <a:solidFill>
            <a:srgbClr val="FFD27A"/>
          </a:solidFill>
          <a:ln/>
        </p:spPr>
      </p:sp>
      <p:sp>
        <p:nvSpPr>
          <p:cNvPr id="6" name="Text 4"/>
          <p:cNvSpPr/>
          <p:nvPr/>
        </p:nvSpPr>
        <p:spPr>
          <a:xfrm>
            <a:off x="2289870" y="990600"/>
            <a:ext cx="323224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599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WORKSHOP · 30 MIN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1257300" y="1390650"/>
            <a:ext cx="6293903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5400" b="1" i="1" spc="-54" kern="0" dirty="0">
                <a:solidFill>
                  <a:srgbClr val="F8E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ワーク：最終仕上げ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1257300" y="2105025"/>
            <a:ext cx="6293903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315" kern="0" dirty="0">
                <a:solidFill>
                  <a:srgbClr val="B58E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MVとして公開できる状態にする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1257300" y="5048689"/>
            <a:ext cx="266700" cy="266700"/>
          </a:xfrm>
          <a:prstGeom prst="roundRect">
            <a:avLst>
              <a:gd name="adj" fmla="val 14286"/>
            </a:avLst>
          </a:prstGeom>
          <a:ln w="14288">
            <a:solidFill>
              <a:srgbClr val="B58EFF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95450" y="5010589"/>
            <a:ext cx="174054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F8EF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全曲の</a:t>
            </a:r>
            <a:pPr algn="l" indent="0" marL="0">
              <a:buNone/>
            </a:pPr>
            <a:r>
              <a:rPr lang="en-US" sz="1800" b="1" spc="72" kern="0" dirty="0">
                <a:solidFill>
                  <a:srgbClr val="F8EF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色調統一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257300" y="5534464"/>
            <a:ext cx="266700" cy="266700"/>
          </a:xfrm>
          <a:prstGeom prst="roundRect">
            <a:avLst>
              <a:gd name="adj" fmla="val 14286"/>
            </a:avLst>
          </a:prstGeom>
          <a:ln w="14288">
            <a:solidFill>
              <a:srgbClr val="B58EFF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95450" y="5496364"/>
            <a:ext cx="150271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72" kern="0" dirty="0">
                <a:solidFill>
                  <a:srgbClr val="F8EF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グレイン</a:t>
            </a:r>
            <a:pPr algn="l" indent="0" marL="0">
              <a:buNone/>
            </a:pPr>
            <a:r>
              <a:rPr lang="en-US" sz="1800" spc="72" kern="0" dirty="0">
                <a:solidFill>
                  <a:srgbClr val="F8EF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追加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257300" y="6020224"/>
            <a:ext cx="266700" cy="266700"/>
          </a:xfrm>
          <a:prstGeom prst="roundRect">
            <a:avLst>
              <a:gd name="adj" fmla="val 14286"/>
            </a:avLst>
          </a:prstGeom>
          <a:ln w="14288">
            <a:solidFill>
              <a:srgbClr val="B58EFF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95450" y="5982124"/>
            <a:ext cx="174054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F8EF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最終コンポ整理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257300" y="6505999"/>
            <a:ext cx="266700" cy="266700"/>
          </a:xfrm>
          <a:prstGeom prst="roundRect">
            <a:avLst>
              <a:gd name="adj" fmla="val 14286"/>
            </a:avLst>
          </a:prstGeom>
          <a:ln w="14288">
            <a:solidFill>
              <a:srgbClr val="B58EFF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95450" y="6467899"/>
            <a:ext cx="235996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F8EF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書き出し（</a:t>
            </a:r>
            <a:pPr algn="l" indent="0" marL="0">
              <a:buNone/>
            </a:pPr>
            <a:r>
              <a:rPr lang="en-US" sz="1800" b="1" spc="72" kern="0" dirty="0">
                <a:solidFill>
                  <a:srgbClr val="FF4FA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1分以内</a:t>
            </a:r>
            <a:pPr algn="l" indent="0" marL="0">
              <a:buNone/>
            </a:pPr>
            <a:r>
              <a:rPr lang="en-US" sz="1800" spc="72" kern="0" dirty="0">
                <a:solidFill>
                  <a:srgbClr val="F8EF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）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257300" y="6991774"/>
            <a:ext cx="266700" cy="266700"/>
          </a:xfrm>
          <a:prstGeom prst="roundRect">
            <a:avLst>
              <a:gd name="adj" fmla="val 14286"/>
            </a:avLst>
          </a:prstGeom>
          <a:ln w="14288">
            <a:solidFill>
              <a:srgbClr val="B58EFF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95450" y="6953674"/>
            <a:ext cx="174054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F8EF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サムネイル制作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410700" y="4918335"/>
            <a:ext cx="7620000" cy="2466975"/>
          </a:xfrm>
          <a:prstGeom prst="roundRect">
            <a:avLst>
              <a:gd name="adj" fmla="val 2317"/>
            </a:avLst>
          </a:prstGeom>
          <a:solidFill>
            <a:srgbClr val="FF4FA8">
              <a:alpha val="5000"/>
            </a:srgbClr>
          </a:solidFill>
          <a:ln w="9525">
            <a:solidFill>
              <a:srgbClr val="FFD27A">
                <a:alpha val="16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705975" y="5194560"/>
            <a:ext cx="724033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講評ポイント — REVIEW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0001696" y="5527935"/>
            <a:ext cx="67627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500" spc="75" kern="0" dirty="0">
                <a:solidFill>
                  <a:srgbClr val="F8EFFF">
                    <a:alpha val="82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色調の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773221" y="5518361"/>
            <a:ext cx="67627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500" b="1" spc="75" kern="0" dirty="0">
                <a:solidFill>
                  <a:srgbClr val="F8E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一貫性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705975" y="5946986"/>
            <a:ext cx="724033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500" spc="75" kern="0" dirty="0">
                <a:solidFill>
                  <a:srgbClr val="F8EFFF">
                    <a:alpha val="82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グレインの適量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705975" y="6375611"/>
            <a:ext cx="724033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500" spc="75" kern="0" dirty="0">
                <a:solidFill>
                  <a:srgbClr val="F8EFFF">
                    <a:alpha val="82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書き出しの設定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0001696" y="6813761"/>
            <a:ext cx="8763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500" spc="75" kern="0" dirty="0">
                <a:solidFill>
                  <a:srgbClr val="F8EFFF">
                    <a:alpha val="82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サムネの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0973246" y="6804236"/>
            <a:ext cx="107632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500" b="1" spc="75" kern="0" dirty="0">
                <a:solidFill>
                  <a:srgbClr val="F8E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クリック性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0" y="9753600"/>
            <a:ext cx="18288000" cy="533400"/>
          </a:xfrm>
          <a:prstGeom prst="rect">
            <a:avLst/>
          </a:prstGeom>
          <a:solidFill>
            <a:srgbClr val="FF4FA8">
              <a:alpha val="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0" y="9753600"/>
            <a:ext cx="18288000" cy="9525"/>
          </a:xfrm>
          <a:prstGeom prst="rect">
            <a:avLst/>
          </a:prstGeom>
          <a:solidFill>
            <a:srgbClr val="FFD27A">
              <a:alpha val="13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419100" y="9934575"/>
            <a:ext cx="127649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DEEP PRISM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1752749" y="10001250"/>
            <a:ext cx="47625" cy="47625"/>
          </a:xfrm>
          <a:prstGeom prst="ellipse">
            <a:avLst/>
          </a:prstGeom>
          <a:solidFill>
            <a:srgbClr val="FF4FA8"/>
          </a:solidFill>
          <a:ln/>
          <a:effectLst>
            <a:outerShdw sx="100000" sy="100000" kx="0" ky="0" algn="bl" rotWithShape="0" blurRad="76200" dist="50800" dir="16200000">
              <a:srgbClr val="FF4FA8">
                <a:alpha val="10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933724" y="9929813"/>
            <a:ext cx="252984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F8EFFF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幽ヶ崎 海月 · AE LYRIC MV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5468600" y="9934575"/>
            <a:ext cx="24765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 06 — 11 / </a:t>
            </a:r>
            <a:pPr algn="l" indent="0" marL="0">
              <a:buNone/>
            </a:pPr>
            <a:r>
              <a:rPr lang="en-US" sz="1050" spc="315" kern="0" dirty="0">
                <a:solidFill>
                  <a:srgbClr val="B58EFF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13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B850FF">
              <a:alpha val="2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-285750" y="5048250"/>
            <a:ext cx="2496592" cy="6324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750"/>
              </a:lnSpc>
              <a:buNone/>
            </a:pPr>
            <a:r>
              <a:rPr lang="en-US" sz="40000" b="1" i="1" spc="-1980" kern="0" dirty="0">
                <a:solidFill>
                  <a:srgbClr val="000000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6</a:t>
            </a:r>
            <a:endParaRPr lang="en-US" sz="40000" dirty="0"/>
          </a:p>
        </p:txBody>
      </p:sp>
      <p:sp>
        <p:nvSpPr>
          <p:cNvPr id="4" name="Text 2"/>
          <p:cNvSpPr/>
          <p:nvPr/>
        </p:nvSpPr>
        <p:spPr>
          <a:xfrm>
            <a:off x="1257300" y="1009650"/>
            <a:ext cx="289620" cy="24765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50800" dir="16200000">
              <a:srgbClr val="FF4FA8">
                <a:alpha val="5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FF4FA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623120" y="1109663"/>
            <a:ext cx="514350" cy="9525"/>
          </a:xfrm>
          <a:prstGeom prst="rect">
            <a:avLst/>
          </a:prstGeom>
          <a:solidFill>
            <a:srgbClr val="FFD27A"/>
          </a:solidFill>
          <a:ln/>
        </p:spPr>
      </p:sp>
      <p:sp>
        <p:nvSpPr>
          <p:cNvPr id="6" name="Text 4"/>
          <p:cNvSpPr/>
          <p:nvPr/>
        </p:nvSpPr>
        <p:spPr>
          <a:xfrm>
            <a:off x="2289870" y="990600"/>
            <a:ext cx="551383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599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 SESSIONS · WHAT YOU LEARNED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1257300" y="1390650"/>
            <a:ext cx="7301191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5400" b="1" i="1" spc="-54" kern="0" dirty="0">
                <a:solidFill>
                  <a:srgbClr val="F8E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6回で身についたスキル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1257300" y="2105025"/>
            <a:ext cx="7301191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315" kern="0" dirty="0">
                <a:solidFill>
                  <a:srgbClr val="B58E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企画から公開まで、MV制作の全工程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1257300" y="4691627"/>
            <a:ext cx="5130701" cy="1362075"/>
          </a:xfrm>
          <a:prstGeom prst="roundRect">
            <a:avLst>
              <a:gd name="adj" fmla="val 4196"/>
            </a:avLst>
          </a:prstGeom>
          <a:solidFill>
            <a:srgbClr val="FF4FA8">
              <a:alpha val="6000"/>
            </a:srgbClr>
          </a:solidFill>
          <a:ln w="9525">
            <a:solidFill>
              <a:srgbClr val="FFD27A">
                <a:alpha val="18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95425" y="4910702"/>
            <a:ext cx="479408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i="1" dirty="0">
                <a:solidFill>
                  <a:srgbClr val="FFD27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01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495425" y="5301227"/>
            <a:ext cx="479408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AI素材生成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495425" y="5672702"/>
            <a:ext cx="479408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80" kern="0" dirty="0">
                <a:solidFill>
                  <a:srgbClr val="B58E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GPT / SUNO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578501" y="4691627"/>
            <a:ext cx="5130850" cy="1362075"/>
          </a:xfrm>
          <a:prstGeom prst="roundRect">
            <a:avLst>
              <a:gd name="adj" fmla="val 4196"/>
            </a:avLst>
          </a:prstGeom>
          <a:solidFill>
            <a:srgbClr val="FF4FA8">
              <a:alpha val="6000"/>
            </a:srgbClr>
          </a:solidFill>
          <a:ln w="9525">
            <a:solidFill>
              <a:srgbClr val="FFD27A">
                <a:alpha val="18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16626" y="4910702"/>
            <a:ext cx="4794238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i="1" dirty="0">
                <a:solidFill>
                  <a:srgbClr val="FFD27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02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6816626" y="5301210"/>
            <a:ext cx="479423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楽曲解析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6816626" y="5672685"/>
            <a:ext cx="479423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80" kern="0" dirty="0">
                <a:solidFill>
                  <a:srgbClr val="B58E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BPM / MARKER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1899850" y="4691610"/>
            <a:ext cx="5130701" cy="1362075"/>
          </a:xfrm>
          <a:prstGeom prst="roundRect">
            <a:avLst>
              <a:gd name="adj" fmla="val 4196"/>
            </a:avLst>
          </a:prstGeom>
          <a:solidFill>
            <a:srgbClr val="FF4FA8">
              <a:alpha val="6000"/>
            </a:srgbClr>
          </a:solidFill>
          <a:ln w="9525">
            <a:solidFill>
              <a:srgbClr val="FFD27A">
                <a:alpha val="18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137975" y="4910685"/>
            <a:ext cx="479408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i="1" dirty="0">
                <a:solidFill>
                  <a:srgbClr val="FFD27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03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2137975" y="5301210"/>
            <a:ext cx="479408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Vコンテ制作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2137975" y="5672685"/>
            <a:ext cx="479408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80" kern="0" dirty="0">
                <a:solidFill>
                  <a:srgbClr val="B58E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COMPOSITION / CAMERA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257300" y="6244185"/>
            <a:ext cx="5130701" cy="1362075"/>
          </a:xfrm>
          <a:prstGeom prst="roundRect">
            <a:avLst>
              <a:gd name="adj" fmla="val 4196"/>
            </a:avLst>
          </a:prstGeom>
          <a:solidFill>
            <a:srgbClr val="FF4FA8">
              <a:alpha val="6000"/>
            </a:srgbClr>
          </a:solidFill>
          <a:ln w="9525">
            <a:solidFill>
              <a:srgbClr val="FFD27A">
                <a:alpha val="18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495425" y="6463260"/>
            <a:ext cx="479408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i="1" dirty="0">
                <a:solidFill>
                  <a:srgbClr val="FFD27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04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1495425" y="6853785"/>
            <a:ext cx="479408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パララックス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1495425" y="7225260"/>
            <a:ext cx="479408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80" kern="0" dirty="0">
                <a:solidFill>
                  <a:srgbClr val="B58E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2.5D SPACE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578501" y="6244185"/>
            <a:ext cx="5130850" cy="1362075"/>
          </a:xfrm>
          <a:prstGeom prst="roundRect">
            <a:avLst>
              <a:gd name="adj" fmla="val 4196"/>
            </a:avLst>
          </a:prstGeom>
          <a:solidFill>
            <a:srgbClr val="FF4FA8">
              <a:alpha val="6000"/>
            </a:srgbClr>
          </a:solidFill>
          <a:ln w="9525">
            <a:solidFill>
              <a:srgbClr val="FFD27A">
                <a:alpha val="18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16626" y="6463260"/>
            <a:ext cx="4794238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i="1" dirty="0">
                <a:solidFill>
                  <a:srgbClr val="FFD27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05</a:t>
            </a:r>
            <a:endParaRPr lang="en-US" sz="2250" dirty="0"/>
          </a:p>
        </p:txBody>
      </p:sp>
      <p:sp>
        <p:nvSpPr>
          <p:cNvPr id="27" name="Text 25"/>
          <p:cNvSpPr/>
          <p:nvPr/>
        </p:nvSpPr>
        <p:spPr>
          <a:xfrm>
            <a:off x="6816626" y="6853785"/>
            <a:ext cx="479423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撮影効果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6816626" y="7225260"/>
            <a:ext cx="479423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80" kern="0" dirty="0">
                <a:solidFill>
                  <a:srgbClr val="B58E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GLOW / SHAKE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1899850" y="6244185"/>
            <a:ext cx="5130701" cy="1362075"/>
          </a:xfrm>
          <a:prstGeom prst="roundRect">
            <a:avLst>
              <a:gd name="adj" fmla="val 4196"/>
            </a:avLst>
          </a:prstGeom>
          <a:solidFill>
            <a:srgbClr val="FF4FA8">
              <a:alpha val="6000"/>
            </a:srgbClr>
          </a:solidFill>
          <a:ln w="9525">
            <a:solidFill>
              <a:srgbClr val="FFD27A">
                <a:alpha val="18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2137975" y="6463260"/>
            <a:ext cx="479408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i="1" dirty="0">
                <a:solidFill>
                  <a:srgbClr val="FFD27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06</a:t>
            </a:r>
            <a:endParaRPr lang="en-US" sz="2250" dirty="0"/>
          </a:p>
        </p:txBody>
      </p:sp>
      <p:sp>
        <p:nvSpPr>
          <p:cNvPr id="31" name="Text 29"/>
          <p:cNvSpPr/>
          <p:nvPr/>
        </p:nvSpPr>
        <p:spPr>
          <a:xfrm>
            <a:off x="12137975" y="6853785"/>
            <a:ext cx="479408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書き出し・サムネ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12137975" y="7225244"/>
            <a:ext cx="479408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80" kern="0" dirty="0">
                <a:solidFill>
                  <a:srgbClr val="B58E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EXPORT / THUMBNAIL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0" y="9753600"/>
            <a:ext cx="18288000" cy="533400"/>
          </a:xfrm>
          <a:prstGeom prst="rect">
            <a:avLst/>
          </a:prstGeom>
          <a:solidFill>
            <a:srgbClr val="FF4FA8">
              <a:alpha val="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0" y="9753600"/>
            <a:ext cx="18288000" cy="9525"/>
          </a:xfrm>
          <a:prstGeom prst="rect">
            <a:avLst/>
          </a:prstGeom>
          <a:solidFill>
            <a:srgbClr val="FFD27A">
              <a:alpha val="13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419100" y="9934575"/>
            <a:ext cx="127649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DEEP PRISM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1752749" y="10001250"/>
            <a:ext cx="47625" cy="47625"/>
          </a:xfrm>
          <a:prstGeom prst="ellipse">
            <a:avLst/>
          </a:prstGeom>
          <a:solidFill>
            <a:srgbClr val="FF4FA8"/>
          </a:solidFill>
          <a:ln/>
          <a:effectLst>
            <a:outerShdw sx="100000" sy="100000" kx="0" ky="0" algn="bl" rotWithShape="0" blurRad="76200" dist="50800" dir="16200000">
              <a:srgbClr val="FF4FA8">
                <a:alpha val="10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1933724" y="9929813"/>
            <a:ext cx="252984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F8EFFF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幽ヶ崎 海月 · AE LYRIC MV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15468600" y="9934575"/>
            <a:ext cx="24765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 06 — 12 / </a:t>
            </a:r>
            <a:pPr algn="l" indent="0" marL="0">
              <a:buNone/>
            </a:pPr>
            <a:r>
              <a:rPr lang="en-US" sz="1050" spc="315" kern="0" dirty="0">
                <a:solidFill>
                  <a:srgbClr val="B58EFF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13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B850FF">
              <a:alpha val="28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7030F">
              <a:alpha val="5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6242396" y="3290888"/>
            <a:ext cx="4563177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25" spc="599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DEEP PRISM · AE LYRIC MV WORKSHOP</a:t>
            </a:r>
            <a:endParaRPr lang="en-US" sz="1425" dirty="0"/>
          </a:p>
        </p:txBody>
      </p:sp>
      <p:sp>
        <p:nvSpPr>
          <p:cNvPr id="6" name="Shape 3"/>
          <p:cNvSpPr/>
          <p:nvPr/>
        </p:nvSpPr>
        <p:spPr>
          <a:xfrm>
            <a:off x="11398597" y="3533775"/>
            <a:ext cx="514350" cy="9525"/>
          </a:xfrm>
          <a:prstGeom prst="rect">
            <a:avLst/>
          </a:prstGeom>
          <a:solidFill>
            <a:srgbClr val="FFD27A"/>
          </a:solidFill>
          <a:ln/>
        </p:spPr>
      </p:sp>
      <p:sp>
        <p:nvSpPr>
          <p:cNvPr id="7" name="Text 4"/>
          <p:cNvSpPr/>
          <p:nvPr/>
        </p:nvSpPr>
        <p:spPr>
          <a:xfrm>
            <a:off x="12065351" y="3414713"/>
            <a:ext cx="62998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25" spc="599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FIN</a:t>
            </a:r>
            <a:endParaRPr lang="en-US" sz="1425" dirty="0"/>
          </a:p>
        </p:txBody>
      </p:sp>
      <p:sp>
        <p:nvSpPr>
          <p:cNvPr id="8" name="Shape 5"/>
          <p:cNvSpPr/>
          <p:nvPr/>
        </p:nvSpPr>
        <p:spPr>
          <a:xfrm>
            <a:off x="6795343" y="4033837"/>
            <a:ext cx="4697313" cy="1714500"/>
          </a:xfrm>
          <a:prstGeom prst="rect">
            <a:avLst/>
          </a:prstGeom>
          <a:solidFill>
            <a:srgbClr val="FFE9B0"/>
          </a:solidFill>
          <a:ln/>
        </p:spPr>
      </p:sp>
      <p:sp>
        <p:nvSpPr>
          <p:cNvPr id="9" name="Text 6"/>
          <p:cNvSpPr/>
          <p:nvPr/>
        </p:nvSpPr>
        <p:spPr>
          <a:xfrm>
            <a:off x="6724884" y="4033837"/>
            <a:ext cx="4838233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7200" b="1" i="1" spc="-72" kern="0" dirty="0">
                <a:solidFill>
                  <a:srgbClr val="0000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YOU CAN MAKE AN MV NOW.</a:t>
            </a:r>
            <a:endParaRPr lang="en-US" sz="7200" dirty="0"/>
          </a:p>
        </p:txBody>
      </p:sp>
      <p:sp>
        <p:nvSpPr>
          <p:cNvPr id="10" name="Text 7"/>
          <p:cNvSpPr/>
          <p:nvPr/>
        </p:nvSpPr>
        <p:spPr>
          <a:xfrm>
            <a:off x="4538773" y="5977333"/>
            <a:ext cx="9210455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70000"/>
              </a:lnSpc>
              <a:buNone/>
            </a:pPr>
            <a:r>
              <a:rPr lang="en-US" sz="2250" b="1" spc="315" kern="0" dirty="0">
                <a:solidFill>
                  <a:srgbClr val="F8EFFF">
                    <a:alpha val="90000"/>
                  </a:srgbClr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あなたはもう、</a:t>
            </a:r>
            <a:pPr algn="ctr" indent="0" marL="0">
              <a:lnSpc>
                <a:spcPct val="170000"/>
              </a:lnSpc>
              <a:buNone/>
            </a:pPr>
            <a:r>
              <a:rPr lang="en-US" sz="2250" b="1" spc="315" kern="0" dirty="0">
                <a:solidFill>
                  <a:srgbClr val="5AE9FF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“MVを1人で作れる”</a:t>
            </a:r>
            <a:pPr algn="ctr" indent="0" marL="0">
              <a:lnSpc>
                <a:spcPct val="170000"/>
              </a:lnSpc>
              <a:buNone/>
            </a:pPr>
            <a:r>
              <a:rPr lang="en-US" sz="2250" b="1" spc="315" kern="0" dirty="0">
                <a:solidFill>
                  <a:srgbClr val="F8EFFF">
                    <a:alpha val="90000"/>
                  </a:srgbClr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レベルに到達している。</a:t>
            </a:r>
            <a:endParaRPr lang="en-US" sz="2250" dirty="0"/>
          </a:p>
        </p:txBody>
      </p:sp>
      <p:sp>
        <p:nvSpPr>
          <p:cNvPr id="11" name="Text 8"/>
          <p:cNvSpPr/>
          <p:nvPr/>
        </p:nvSpPr>
        <p:spPr>
          <a:xfrm>
            <a:off x="6149118" y="6847002"/>
            <a:ext cx="598961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spc="293" kern="0" dirty="0">
                <a:solidFill>
                  <a:srgbClr val="B58EFF">
                    <a:alpha val="6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幽ヶ崎 海月 — DEEP PRISM · LIGHT, AND THE DEEP SEA</a:t>
            </a:r>
            <a:endParaRPr lang="en-US" sz="1125" dirty="0"/>
          </a:p>
        </p:txBody>
      </p:sp>
      <p:sp>
        <p:nvSpPr>
          <p:cNvPr id="12" name="Shape 9"/>
          <p:cNvSpPr/>
          <p:nvPr/>
        </p:nvSpPr>
        <p:spPr>
          <a:xfrm>
            <a:off x="0" y="9753600"/>
            <a:ext cx="18288000" cy="533400"/>
          </a:xfrm>
          <a:prstGeom prst="rect">
            <a:avLst/>
          </a:prstGeom>
          <a:solidFill>
            <a:srgbClr val="FF4FA8">
              <a:alpha val="5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0" y="9753600"/>
            <a:ext cx="18288000" cy="9525"/>
          </a:xfrm>
          <a:prstGeom prst="rect">
            <a:avLst/>
          </a:prstGeom>
          <a:solidFill>
            <a:srgbClr val="FFD27A">
              <a:alpha val="13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419100" y="9934575"/>
            <a:ext cx="127649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DEEP PRISM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1752749" y="10001250"/>
            <a:ext cx="47625" cy="47625"/>
          </a:xfrm>
          <a:prstGeom prst="ellipse">
            <a:avLst/>
          </a:prstGeom>
          <a:solidFill>
            <a:srgbClr val="FF4FA8"/>
          </a:solidFill>
          <a:ln/>
          <a:effectLst>
            <a:outerShdw sx="100000" sy="100000" kx="0" ky="0" algn="bl" rotWithShape="0" blurRad="76200" dist="50800" dir="16200000">
              <a:srgbClr val="FF4FA8">
                <a:alpha val="10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1933724" y="9929813"/>
            <a:ext cx="252984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F8EFFF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幽ヶ崎 海月 · AE LYRIC MV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15468600" y="9934575"/>
            <a:ext cx="24765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 06 — 13 / </a:t>
            </a:r>
            <a:pPr algn="l" indent="0" marL="0">
              <a:buNone/>
            </a:pPr>
            <a:r>
              <a:rPr lang="en-US" sz="1050" spc="315" kern="0" dirty="0">
                <a:solidFill>
                  <a:srgbClr val="B58EFF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13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2026-06-07T02:24:46Z</dcterms:created>
  <dcterms:modified xsi:type="dcterms:W3CDTF">2026-06-07T02:24:46Z</dcterms:modified>
</cp:coreProperties>
</file>