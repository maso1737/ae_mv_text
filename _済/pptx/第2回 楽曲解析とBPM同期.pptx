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1647825"/>
            <a:ext cx="39853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DEEP PRISM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5279082" y="1766888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5" name="Text 3"/>
          <p:cNvSpPr/>
          <p:nvPr/>
        </p:nvSpPr>
        <p:spPr>
          <a:xfrm>
            <a:off x="5945832" y="1647825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AE LYRIC MV WORKSHOP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257300" y="2200275"/>
            <a:ext cx="9258300" cy="22860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200275"/>
            <a:ext cx="9536049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b="1" i="1" spc="-9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500" dirty="0"/>
          </a:p>
        </p:txBody>
      </p:sp>
      <p:sp>
        <p:nvSpPr>
          <p:cNvPr id="8" name="Shape 6"/>
          <p:cNvSpPr/>
          <p:nvPr/>
        </p:nvSpPr>
        <p:spPr>
          <a:xfrm>
            <a:off x="1257300" y="4543425"/>
            <a:ext cx="9258300" cy="1714500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543425"/>
            <a:ext cx="9536049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200" b="1" i="1" spc="-72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TEMPO &amp; SYNC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257300" y="6429375"/>
            <a:ext cx="953604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456" kern="0" dirty="0">
                <a:solidFill>
                  <a:srgbClr val="F8EFFF">
                    <a:alpha val="9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楽曲解析とBPM同期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257300" y="7200900"/>
            <a:ext cx="667131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音と映像を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“数学的に” </a:t>
            </a:r>
            <a:pPr algn="l" indent="0" marL="0">
              <a:lnSpc>
                <a:spcPct val="195000"/>
              </a:lnSpc>
              <a:buNone/>
            </a:pPr>
            <a:r>
              <a:rPr lang="en-US" sz="1575" spc="95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同期させる。 感覚ではなく論理で、気持ちよさを設計する。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57300" y="8286750"/>
            <a:ext cx="1809750" cy="371475"/>
          </a:xfrm>
          <a:prstGeom prst="roundRect">
            <a:avLst>
              <a:gd name="adj" fmla="val 7692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419225" y="8372475"/>
            <a:ext cx="1562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EFFECTS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3181350" y="8286750"/>
            <a:ext cx="10096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3275" y="8372475"/>
            <a:ext cx="7620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MARKER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4305300" y="8286750"/>
            <a:ext cx="20383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7225" y="8372475"/>
            <a:ext cx="1790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AUDIO AMPLITUDE</a:t>
            </a:r>
            <a:endParaRPr lang="en-US" sz="112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0" y="0"/>
            <a:ext cx="7772400" cy="10287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0515600" y="0"/>
            <a:ext cx="7772400" cy="10287000"/>
          </a:xfrm>
          <a:prstGeom prst="rect">
            <a:avLst/>
          </a:prstGeom>
          <a:solidFill>
            <a:srgbClr val="07030F"/>
          </a:solidFill>
          <a:ln/>
        </p:spPr>
      </p:sp>
      <p:sp>
        <p:nvSpPr>
          <p:cNvPr id="20" name="Shape 17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19100" y="9934575"/>
            <a:ext cx="163651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KINETIC STAGE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2112764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293739" y="9934575"/>
            <a:ext cx="382933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VTUBER MUSIC VIDEO · AFTER EFFECTS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6068675" y="9934575"/>
            <a:ext cx="18764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/ 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TODAY'S GOALS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45493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今日のゴール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4549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感覚ではなく“論理”で音同期を作る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4825011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楽曲の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476946" y="4815486"/>
            <a:ext cx="163651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BPMを正確に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4208711" y="4825011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求められる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386986"/>
            <a:ext cx="288911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1拍・1小節のフレーム数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531816" y="5396511"/>
            <a:ext cx="157638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を計算できる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555403" y="5968011"/>
            <a:ext cx="6348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AEで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2285554" y="5958486"/>
            <a:ext cx="10763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マーカー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457129" y="5967994"/>
            <a:ext cx="182641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を正確に打てる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257300" y="6529969"/>
            <a:ext cx="901745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歌詞のタイミングをマーカーに配置できる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555403" y="7101469"/>
            <a:ext cx="334791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音に反応するアニメーション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4977259" y="7110994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を作れる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545514" y="5442720"/>
            <a:ext cx="6485186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545514" y="5442720"/>
            <a:ext cx="38100" cy="1419225"/>
          </a:xfrm>
          <a:prstGeom prst="rect">
            <a:avLst/>
          </a:prstGeom>
          <a:solidFill>
            <a:srgbClr val="FFD27A">
              <a:alpha val="9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907464" y="5709420"/>
            <a:ext cx="597336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“Math, not vibes.”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0907464" y="6233295"/>
            <a:ext cx="59733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気持ちよさは、数字で設計できる。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02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1067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IS BPM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52406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BPMとは何か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5240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Beats Per Minute — 1分間の拍数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5401114"/>
            <a:ext cx="7848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875" spc="113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BPMが分かると、映像のリズム設計が</a:t>
            </a:r>
            <a:pPr algn="l" indent="0" marL="0">
              <a:lnSpc>
                <a:spcPct val="195000"/>
              </a:lnSpc>
              <a:buNone/>
            </a:pPr>
            <a:r>
              <a:rPr lang="en-US" sz="1875" spc="113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すべて決まる </a:t>
            </a:r>
            <a:pPr algn="l" indent="0" marL="0">
              <a:lnSpc>
                <a:spcPct val="195000"/>
              </a:lnSpc>
              <a:buNone/>
            </a:pPr>
            <a:r>
              <a:rPr lang="en-US" sz="1875" spc="113" kern="0" dirty="0">
                <a:solidFill>
                  <a:srgbClr val="F8EFFF">
                    <a:alpha val="74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MVのタイミングは、つねにBPMが基準になる。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600349" y="6558401"/>
            <a:ext cx="250033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基準が1つあるだけで、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4196060" y="6558401"/>
            <a:ext cx="1916460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全カットのテンポ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6207770" y="6558401"/>
            <a:ext cx="9831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が揃う。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410700" y="4770746"/>
            <a:ext cx="3705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05975" y="504697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♪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125075" y="5104121"/>
            <a:ext cx="88963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1拍の長さ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05975" y="5466071"/>
            <a:ext cx="3208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最小のリズム単位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325475" y="4770746"/>
            <a:ext cx="3705225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20750" y="5046971"/>
            <a:ext cx="1869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𝄞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845778" y="5104121"/>
            <a:ext cx="10629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1小節の長さ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3620750" y="5466071"/>
            <a:ext cx="32081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4拍 ＝ 構成の単位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410700" y="6256646"/>
            <a:ext cx="7620000" cy="1276350"/>
          </a:xfrm>
          <a:prstGeom prst="roundRect">
            <a:avLst>
              <a:gd name="adj" fmla="val 4478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5975" y="6532822"/>
            <a:ext cx="3399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▤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83998" y="6589972"/>
            <a:ext cx="14630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映像のリズム設計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705975" y="6951922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カット割り・動き・歌詞、すべてのテンポの土台になる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03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291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BPM → FRAMES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011774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フレーム計算式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01177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“1拍＝何フレームか”を理解することが最重要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4367777"/>
            <a:ext cx="7620000" cy="3562350"/>
          </a:xfrm>
          <a:prstGeom prst="roundRect">
            <a:avLst>
              <a:gd name="adj" fmla="val 1604"/>
            </a:avLst>
          </a:prstGeom>
          <a:solidFill>
            <a:srgbClr val="080410">
              <a:alpha val="60000"/>
            </a:srgbClr>
          </a:solidFill>
          <a:ln w="9525">
            <a:solidFill>
              <a:srgbClr val="B58E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0675" y="5606027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90675" y="5148827"/>
            <a:ext cx="19383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例 / EXAMPLE BPM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7587109" y="4796402"/>
            <a:ext cx="1033016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81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120</a:t>
            </a:r>
            <a:endParaRPr lang="en-US" sz="4050" dirty="0"/>
          </a:p>
        </p:txBody>
      </p:sp>
      <p:sp>
        <p:nvSpPr>
          <p:cNvPr id="13" name="Shape 11"/>
          <p:cNvSpPr/>
          <p:nvPr/>
        </p:nvSpPr>
        <p:spPr>
          <a:xfrm>
            <a:off x="1590675" y="6282302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90675" y="5882252"/>
            <a:ext cx="225251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1拍の秒数 — 60 ÷ 120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509421" y="5767935"/>
            <a:ext cx="111070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 </a:t>
            </a:r>
            <a:pPr algn="l" indent="0" marL="0">
              <a:buNone/>
            </a:pPr>
            <a:r>
              <a:rPr lang="en-US" sz="1350" b="1" spc="45" kern="0" dirty="0">
                <a:solidFill>
                  <a:srgbClr val="B58E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sec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90675" y="6958560"/>
            <a:ext cx="6953250" cy="9525"/>
          </a:xfrm>
          <a:prstGeom prst="rect">
            <a:avLst/>
          </a:prstGeom>
          <a:solidFill>
            <a:srgbClr val="B58E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90675" y="6558510"/>
            <a:ext cx="33624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1拍のフレーム — 0.5 × 29.97FPS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7548860" y="6444210"/>
            <a:ext cx="1071265" cy="4191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≒ 15 </a:t>
            </a:r>
            <a:pPr algn="l" indent="0" marL="0">
              <a:buNone/>
            </a:pPr>
            <a:r>
              <a:rPr lang="en-US" sz="1350" b="1" spc="4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90675" y="7234785"/>
            <a:ext cx="12291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B58EFF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1小節 — 4拍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7548860" y="7120485"/>
            <a:ext cx="1071265" cy="4191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4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≒ 60 </a:t>
            </a:r>
            <a:pPr algn="l" indent="0" marL="0">
              <a:buNone/>
            </a:pPr>
            <a:r>
              <a:rPr lang="en-US" sz="1350" b="1" spc="45" kern="0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410700" y="5023514"/>
            <a:ext cx="7620000" cy="1676400"/>
          </a:xfrm>
          <a:prstGeom prst="roundRect">
            <a:avLst>
              <a:gd name="adj" fmla="val 340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05975" y="5299687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本曲 — DEEP PRISM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05975" y="5623537"/>
            <a:ext cx="1173510" cy="83820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55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5AE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128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0974735" y="6052162"/>
            <a:ext cx="24459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8E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BPM → 1拍 ≒ </a:t>
            </a:r>
            <a:pPr algn="l" indent="0" marL="0">
              <a:buNone/>
            </a:pPr>
            <a:r>
              <a:rPr lang="en-US" sz="1350" b="1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14f </a:t>
            </a:r>
            <a:pPr algn="l" indent="0" marL="0">
              <a:buNone/>
            </a:pPr>
            <a:r>
              <a:rPr lang="en-US" sz="1350" dirty="0">
                <a:solidFill>
                  <a:srgbClr val="F8E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/ 1小節 ≒ </a:t>
            </a:r>
            <a:pPr algn="l" indent="0" marL="0">
              <a:buNone/>
            </a:pPr>
            <a:r>
              <a:rPr lang="en-US" sz="1350" b="1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56f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53749" y="6942698"/>
            <a:ext cx="437852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fps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10286851" y="6942698"/>
            <a:ext cx="499296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を必ず確認 — 29.97 と 30 でズレが生まれる。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04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247592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MARKERS IN AE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6248681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AEでのマーカー打ち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62486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正確なマーカーは、MV制作の“命”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5403" y="5110694"/>
            <a:ext cx="10763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拍ごとに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2726978" y="5101169"/>
            <a:ext cx="10763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マーカー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3898553" y="5110694"/>
            <a:ext cx="8262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を打つ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555403" y="5682194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小節ごとに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2977009" y="5672669"/>
            <a:ext cx="82629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色分け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3898553" y="5682194"/>
            <a:ext cx="576263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する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55403" y="6244169"/>
            <a:ext cx="18264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b="1" spc="94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歌詞の開始位置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477071" y="6253694"/>
            <a:ext cx="132635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にマーカー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257300" y="6815669"/>
            <a:ext cx="7848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75" spc="94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マーカー精度が高いほど、後の作業が速い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410700" y="5309212"/>
            <a:ext cx="7620000" cy="1685925"/>
          </a:xfrm>
          <a:prstGeom prst="roundRect">
            <a:avLst>
              <a:gd name="adj" fmla="val 3390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5975" y="5585437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命名規則の例 — NAMING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05975" y="5909235"/>
            <a:ext cx="12382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7900" y="5994960"/>
            <a:ext cx="990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A1_BEAT1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1058525" y="5909235"/>
            <a:ext cx="14668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20450" y="5994960"/>
            <a:ext cx="1219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SABI_BEAT4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12639675" y="5909235"/>
            <a:ext cx="1238250" cy="371475"/>
          </a:xfrm>
          <a:prstGeom prst="roundRect">
            <a:avLst>
              <a:gd name="adj" fmla="val 7692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0" y="5994960"/>
            <a:ext cx="990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LYRIC_01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9705975" y="6414060"/>
            <a:ext cx="72403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統一した命名は、スクリプトやエクスプレッションとの互換性も生む。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05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8026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READING THE WAVEFORM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692548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歌詞タイミングの取り方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69254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歌詞のタイミングは“視認性”に直結する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328740"/>
            <a:ext cx="82600" cy="17323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87525" y="5089574"/>
            <a:ext cx="82600" cy="65142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17749" y="4899520"/>
            <a:ext cx="82600" cy="103167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47974" y="4795043"/>
            <a:ext cx="82600" cy="124078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78198" y="4791769"/>
            <a:ext cx="82600" cy="124732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08423" y="4880470"/>
            <a:ext cx="82600" cy="106962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8648" y="5031382"/>
            <a:ext cx="82600" cy="76795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68872" y="5201344"/>
            <a:ext cx="82600" cy="42788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99097" y="5310435"/>
            <a:ext cx="82600" cy="20984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29321" y="5221733"/>
            <a:ext cx="82600" cy="38710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59546" y="5203278"/>
            <a:ext cx="82600" cy="42401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89771" y="5245992"/>
            <a:ext cx="82600" cy="33858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19995" y="5322043"/>
            <a:ext cx="82600" cy="18663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50220" y="5263703"/>
            <a:ext cx="82600" cy="30331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80445" y="5232286"/>
            <a:ext cx="82600" cy="36611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0669" y="5264582"/>
            <a:ext cx="82600" cy="30137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40894" y="5293455"/>
            <a:ext cx="82600" cy="24363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1118" y="5146115"/>
            <a:ext cx="82600" cy="53831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01343" y="4986869"/>
            <a:ext cx="82600" cy="85680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1568" y="4859472"/>
            <a:ext cx="82600" cy="111159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61792" y="4803810"/>
            <a:ext cx="82600" cy="122307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992017" y="4843696"/>
            <a:ext cx="82600" cy="114314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22241" y="4980767"/>
            <a:ext cx="82600" cy="86900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52466" y="5192252"/>
            <a:ext cx="82600" cy="44603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82691" y="5220827"/>
            <a:ext cx="82600" cy="38903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12915" y="4993864"/>
            <a:ext cx="82600" cy="84296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43140" y="4830599"/>
            <a:ext cx="82600" cy="116934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364" y="4762138"/>
            <a:ext cx="82600" cy="130641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03589" y="4796220"/>
            <a:ext cx="82600" cy="123825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33814" y="4916622"/>
            <a:ext cx="82600" cy="99744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64038" y="5087477"/>
            <a:ext cx="82600" cy="65558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94263" y="5263987"/>
            <a:ext cx="82600" cy="30256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24488" y="5253420"/>
            <a:ext cx="82600" cy="32370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54712" y="5178411"/>
            <a:ext cx="82600" cy="47386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684937" y="5175285"/>
            <a:ext cx="82600" cy="47997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15161" y="5229445"/>
            <a:ext cx="82600" cy="37162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5386" y="4796207"/>
            <a:ext cx="19050" cy="1238250"/>
          </a:xfrm>
          <a:prstGeom prst="rect">
            <a:avLst/>
          </a:prstGeom>
          <a:solidFill>
            <a:srgbClr val="FFD27A"/>
          </a:solidFill>
          <a:ln/>
          <a:effectLst>
            <a:outerShdw sx="100000" sy="100000" kx="0" ky="0" algn="bl" rotWithShape="0" blurRad="76200" dist="50800" dir="16200000">
              <a:srgbClr val="FFD27A">
                <a:alpha val="6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12061" y="5309366"/>
            <a:ext cx="82600" cy="21193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42286" y="5281089"/>
            <a:ext cx="82600" cy="26833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72510" y="5260699"/>
            <a:ext cx="82600" cy="30911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02735" y="5305348"/>
            <a:ext cx="82600" cy="21996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32959" y="5245072"/>
            <a:ext cx="82600" cy="34037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663184" y="5099816"/>
            <a:ext cx="82600" cy="63088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793409" y="4955006"/>
            <a:ext cx="82600" cy="92050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23633" y="4853952"/>
            <a:ext cx="82600" cy="112275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053858" y="4831925"/>
            <a:ext cx="82600" cy="116666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184082" y="4906637"/>
            <a:ext cx="82600" cy="101724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314307" y="5071836"/>
            <a:ext cx="82600" cy="68684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444532" y="5298502"/>
            <a:ext cx="82600" cy="23366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574756" y="5116336"/>
            <a:ext cx="82600" cy="59799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704981" y="4907977"/>
            <a:ext cx="82600" cy="101456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835205" y="4776710"/>
            <a:ext cx="82600" cy="127724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965430" y="4746647"/>
            <a:ext cx="82600" cy="133751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095655" y="4817787"/>
            <a:ext cx="82600" cy="119509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225879" y="4966913"/>
            <a:ext cx="82600" cy="89668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56104" y="5153841"/>
            <a:ext cx="82600" cy="52298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486329" y="5325142"/>
            <a:ext cx="82600" cy="18038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616553" y="5195066"/>
            <a:ext cx="82600" cy="44053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746778" y="5136266"/>
            <a:ext cx="82600" cy="558105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877002" y="5149809"/>
            <a:ext cx="82600" cy="53087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007227" y="5215442"/>
            <a:ext cx="82600" cy="39960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137452" y="5298339"/>
            <a:ext cx="82600" cy="23380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9267676" y="5297149"/>
            <a:ext cx="82600" cy="23619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397901" y="5287326"/>
            <a:ext cx="82600" cy="25598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9528125" y="5314859"/>
            <a:ext cx="82600" cy="20076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658350" y="5203387"/>
            <a:ext cx="82600" cy="42386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9788575" y="5063637"/>
            <a:ext cx="82600" cy="70336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9918799" y="4936389"/>
            <a:ext cx="82600" cy="95770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0049024" y="4863166"/>
            <a:ext cx="82600" cy="110415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10179248" y="4874775"/>
            <a:ext cx="82600" cy="108108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0309473" y="4981335"/>
            <a:ext cx="82600" cy="86781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439698" y="5169752"/>
            <a:ext cx="82600" cy="49113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0569922" y="5252500"/>
            <a:ext cx="82600" cy="32548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10700147" y="5018691"/>
            <a:ext cx="82600" cy="79325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10830371" y="4835037"/>
            <a:ext cx="82600" cy="116056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10960596" y="4796193"/>
            <a:ext cx="19050" cy="1238250"/>
          </a:xfrm>
          <a:prstGeom prst="rect">
            <a:avLst/>
          </a:prstGeom>
          <a:solidFill>
            <a:srgbClr val="FFD27A"/>
          </a:solidFill>
          <a:ln/>
          <a:effectLst>
            <a:outerShdw sx="100000" sy="100000" kx="0" ky="0" algn="bl" rotWithShape="0" blurRad="76200" dist="50800" dir="16200000">
              <a:srgbClr val="FFD27A">
                <a:alpha val="6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11027271" y="4739490"/>
            <a:ext cx="82600" cy="135165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1157496" y="4749015"/>
            <a:ext cx="82600" cy="133260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11287720" y="4856022"/>
            <a:ext cx="82600" cy="111859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11417945" y="5030449"/>
            <a:ext cx="82600" cy="76959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11548170" y="5228539"/>
            <a:ext cx="82600" cy="37355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11678394" y="5253393"/>
            <a:ext cx="82600" cy="32370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1808619" y="5137146"/>
            <a:ext cx="82600" cy="55632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11938843" y="5097111"/>
            <a:ext cx="82600" cy="63624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2069068" y="5128216"/>
            <a:ext cx="82600" cy="57403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12199293" y="5205160"/>
            <a:ext cx="82600" cy="42029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12329517" y="5290439"/>
            <a:ext cx="82600" cy="24973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12459742" y="5310828"/>
            <a:ext cx="82600" cy="208955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12589966" y="5310828"/>
            <a:ext cx="82600" cy="208955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12720191" y="5282700"/>
            <a:ext cx="82600" cy="26521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12850416" y="5169144"/>
            <a:ext cx="82600" cy="49232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12980640" y="5038026"/>
            <a:ext cx="82600" cy="75441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13110865" y="4931019"/>
            <a:ext cx="82600" cy="96857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13241089" y="4886668"/>
            <a:ext cx="82600" cy="105712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13371314" y="4930423"/>
            <a:ext cx="82600" cy="96976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13501539" y="5065262"/>
            <a:ext cx="82600" cy="69993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3631763" y="5270942"/>
            <a:ext cx="82600" cy="28857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13761988" y="5149350"/>
            <a:ext cx="82600" cy="53176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13892213" y="4930870"/>
            <a:ext cx="82600" cy="96887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14022437" y="4777279"/>
            <a:ext cx="82600" cy="127620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14152662" y="4720427"/>
            <a:ext cx="82600" cy="138990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14282886" y="4769838"/>
            <a:ext cx="82600" cy="129108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14413111" y="4910034"/>
            <a:ext cx="82600" cy="101054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14543336" y="5105445"/>
            <a:ext cx="82600" cy="61972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14673560" y="5309191"/>
            <a:ext cx="82600" cy="21208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4" name="Shape 112"/>
          <p:cNvSpPr/>
          <p:nvPr/>
        </p:nvSpPr>
        <p:spPr>
          <a:xfrm>
            <a:off x="14803785" y="5180740"/>
            <a:ext cx="82600" cy="46910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14934009" y="4796168"/>
            <a:ext cx="19050" cy="1238250"/>
          </a:xfrm>
          <a:prstGeom prst="rect">
            <a:avLst/>
          </a:prstGeom>
          <a:solidFill>
            <a:srgbClr val="FF4FA8"/>
          </a:solidFill>
          <a:ln/>
          <a:effectLst>
            <a:outerShdw sx="100000" sy="100000" kx="0" ky="0" algn="bl" rotWithShape="0" blurRad="95250" dist="50800" dir="16200000">
              <a:srgbClr val="FF4FA8">
                <a:alpha val="70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15000684" y="5081918"/>
            <a:ext cx="82600" cy="66660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7" name="Shape 115"/>
          <p:cNvSpPr/>
          <p:nvPr/>
        </p:nvSpPr>
        <p:spPr>
          <a:xfrm>
            <a:off x="15130909" y="5063017"/>
            <a:ext cx="82600" cy="704552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8" name="Shape 116"/>
          <p:cNvSpPr/>
          <p:nvPr/>
        </p:nvSpPr>
        <p:spPr>
          <a:xfrm>
            <a:off x="15261134" y="5112130"/>
            <a:ext cx="82600" cy="60617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15391358" y="5199641"/>
            <a:ext cx="82600" cy="431304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0" name="Shape 118"/>
          <p:cNvSpPr/>
          <p:nvPr/>
        </p:nvSpPr>
        <p:spPr>
          <a:xfrm>
            <a:off x="15521583" y="5286259"/>
            <a:ext cx="82600" cy="25791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15651807" y="5321085"/>
            <a:ext cx="82600" cy="188416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15782032" y="5326889"/>
            <a:ext cx="82600" cy="176808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15912257" y="5256047"/>
            <a:ext cx="82600" cy="31834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16042481" y="5143235"/>
            <a:ext cx="82600" cy="543967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5" name="Shape 123"/>
          <p:cNvSpPr/>
          <p:nvPr/>
        </p:nvSpPr>
        <p:spPr>
          <a:xfrm>
            <a:off x="16172706" y="5023577"/>
            <a:ext cx="82600" cy="78343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16302930" y="4938447"/>
            <a:ext cx="82600" cy="95369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6433155" y="4923118"/>
            <a:ext cx="82600" cy="984200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16563380" y="4996788"/>
            <a:ext cx="82600" cy="836861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16693604" y="5155439"/>
            <a:ext cx="82600" cy="519559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30" name="Shape 128"/>
          <p:cNvSpPr/>
          <p:nvPr/>
        </p:nvSpPr>
        <p:spPr>
          <a:xfrm>
            <a:off x="16823829" y="5284622"/>
            <a:ext cx="82600" cy="26119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31" name="Shape 129"/>
          <p:cNvSpPr/>
          <p:nvPr/>
        </p:nvSpPr>
        <p:spPr>
          <a:xfrm>
            <a:off x="16954054" y="5052896"/>
            <a:ext cx="82600" cy="724793"/>
          </a:xfrm>
          <a:prstGeom prst="roundRect">
            <a:avLst>
              <a:gd name="adj" fmla="val 34594"/>
            </a:avLst>
          </a:prstGeom>
          <a:solidFill>
            <a:srgbClr val="5AE9FF"/>
          </a:solidFill>
          <a:ln/>
          <a:effectLst>
            <a:outerShdw sx="100000" sy="100000" kx="0" ky="0" algn="bl" rotWithShape="0" blurRad="76200" dist="50800" dir="16200000">
              <a:srgbClr val="FF4FA8">
                <a:alpha val="35000"/>
              </a:srgbClr>
            </a:outerShdw>
          </a:effectLst>
        </p:spPr>
      </p:sp>
      <p:sp>
        <p:nvSpPr>
          <p:cNvPr id="132" name="Shape 130"/>
          <p:cNvSpPr/>
          <p:nvPr/>
        </p:nvSpPr>
        <p:spPr>
          <a:xfrm>
            <a:off x="1257300" y="6380091"/>
            <a:ext cx="3786188" cy="1123950"/>
          </a:xfrm>
          <a:prstGeom prst="roundRect">
            <a:avLst>
              <a:gd name="adj" fmla="val 5085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495425" y="6580116"/>
            <a:ext cx="1649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</a:t>
            </a:r>
            <a:endParaRPr lang="en-US" sz="2400" dirty="0"/>
          </a:p>
        </p:txBody>
      </p:sp>
      <p:sp>
        <p:nvSpPr>
          <p:cNvPr id="134" name="Text 132"/>
          <p:cNvSpPr/>
          <p:nvPr/>
        </p:nvSpPr>
        <p:spPr>
          <a:xfrm>
            <a:off x="1698427" y="6637220"/>
            <a:ext cx="4229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子音</a:t>
            </a:r>
            <a:endParaRPr lang="en-US" sz="1050" dirty="0"/>
          </a:p>
        </p:txBody>
      </p:sp>
      <p:sp>
        <p:nvSpPr>
          <p:cNvPr id="135" name="Text 133"/>
          <p:cNvSpPr/>
          <p:nvPr/>
        </p:nvSpPr>
        <p:spPr>
          <a:xfrm>
            <a:off x="1495425" y="6999170"/>
            <a:ext cx="34092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立ち上がりでマーカー</a:t>
            </a:r>
            <a:endParaRPr lang="en-US" sz="1350" dirty="0"/>
          </a:p>
        </p:txBody>
      </p:sp>
      <p:sp>
        <p:nvSpPr>
          <p:cNvPr id="136" name="Shape 134"/>
          <p:cNvSpPr/>
          <p:nvPr/>
        </p:nvSpPr>
        <p:spPr>
          <a:xfrm>
            <a:off x="5253038" y="6380045"/>
            <a:ext cx="3786188" cy="1123950"/>
          </a:xfrm>
          <a:prstGeom prst="roundRect">
            <a:avLst>
              <a:gd name="adj" fmla="val 5085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491163" y="6580070"/>
            <a:ext cx="1899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400" dirty="0"/>
          </a:p>
        </p:txBody>
      </p:sp>
      <p:sp>
        <p:nvSpPr>
          <p:cNvPr id="138" name="Text 136"/>
          <p:cNvSpPr/>
          <p:nvPr/>
        </p:nvSpPr>
        <p:spPr>
          <a:xfrm>
            <a:off x="5719167" y="6637220"/>
            <a:ext cx="4229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母音</a:t>
            </a:r>
            <a:endParaRPr lang="en-US" sz="1050" dirty="0"/>
          </a:p>
        </p:txBody>
      </p:sp>
      <p:sp>
        <p:nvSpPr>
          <p:cNvPr id="139" name="Text 137"/>
          <p:cNvSpPr/>
          <p:nvPr/>
        </p:nvSpPr>
        <p:spPr>
          <a:xfrm>
            <a:off x="5491163" y="6999170"/>
            <a:ext cx="34092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伸びは後で調整</a:t>
            </a:r>
            <a:endParaRPr lang="en-US" sz="1350" dirty="0"/>
          </a:p>
        </p:txBody>
      </p:sp>
      <p:sp>
        <p:nvSpPr>
          <p:cNvPr id="140" name="Shape 138"/>
          <p:cNvSpPr/>
          <p:nvPr/>
        </p:nvSpPr>
        <p:spPr>
          <a:xfrm>
            <a:off x="9248775" y="6380045"/>
            <a:ext cx="3786188" cy="1123950"/>
          </a:xfrm>
          <a:prstGeom prst="roundRect">
            <a:avLst>
              <a:gd name="adj" fmla="val 5085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486900" y="6580070"/>
            <a:ext cx="1841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2400" dirty="0"/>
          </a:p>
        </p:txBody>
      </p:sp>
      <p:sp>
        <p:nvSpPr>
          <p:cNvPr id="142" name="Text 140"/>
          <p:cNvSpPr/>
          <p:nvPr/>
        </p:nvSpPr>
        <p:spPr>
          <a:xfrm>
            <a:off x="9709100" y="6637220"/>
            <a:ext cx="59626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区切り</a:t>
            </a:r>
            <a:endParaRPr lang="en-US" sz="1050" dirty="0"/>
          </a:p>
        </p:txBody>
      </p:sp>
      <p:sp>
        <p:nvSpPr>
          <p:cNvPr id="143" name="Text 141"/>
          <p:cNvSpPr/>
          <p:nvPr/>
        </p:nvSpPr>
        <p:spPr>
          <a:xfrm>
            <a:off x="9486900" y="6999170"/>
            <a:ext cx="34092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意味の切れ目を意識</a:t>
            </a:r>
            <a:endParaRPr lang="en-US" sz="1350" dirty="0"/>
          </a:p>
        </p:txBody>
      </p:sp>
      <p:sp>
        <p:nvSpPr>
          <p:cNvPr id="144" name="Shape 142"/>
          <p:cNvSpPr/>
          <p:nvPr/>
        </p:nvSpPr>
        <p:spPr>
          <a:xfrm>
            <a:off x="13244513" y="6380045"/>
            <a:ext cx="3786188" cy="1123950"/>
          </a:xfrm>
          <a:prstGeom prst="roundRect">
            <a:avLst>
              <a:gd name="adj" fmla="val 5085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45" name="Text 143"/>
          <p:cNvSpPr/>
          <p:nvPr/>
        </p:nvSpPr>
        <p:spPr>
          <a:xfrm>
            <a:off x="13482638" y="6580070"/>
            <a:ext cx="20821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</a:t>
            </a:r>
            <a:endParaRPr lang="en-US" sz="2400" dirty="0"/>
          </a:p>
        </p:txBody>
      </p:sp>
      <p:sp>
        <p:nvSpPr>
          <p:cNvPr id="146" name="Text 144"/>
          <p:cNvSpPr/>
          <p:nvPr/>
        </p:nvSpPr>
        <p:spPr>
          <a:xfrm>
            <a:off x="13728948" y="6637220"/>
            <a:ext cx="42291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サビ</a:t>
            </a:r>
            <a:endParaRPr lang="en-US" sz="1050" dirty="0"/>
          </a:p>
        </p:txBody>
      </p:sp>
      <p:sp>
        <p:nvSpPr>
          <p:cNvPr id="147" name="Text 145"/>
          <p:cNvSpPr/>
          <p:nvPr/>
        </p:nvSpPr>
        <p:spPr>
          <a:xfrm>
            <a:off x="13482638" y="6999170"/>
            <a:ext cx="34092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ズレが目立つ。慎重に</a:t>
            </a:r>
            <a:endParaRPr lang="en-US" sz="1350" dirty="0"/>
          </a:p>
        </p:txBody>
      </p:sp>
      <p:sp>
        <p:nvSpPr>
          <p:cNvPr id="148" name="Shape 146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150" name="Text 148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152" name="Text 150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153" name="Text 151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06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6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AUDIO → KEYFRAMES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67092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音反応の基礎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670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オーディオ振幅 — 音を“数値化”する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300" y="4920087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76450" y="4977237"/>
            <a:ext cx="370861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オーディオをキーフレームに変換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76450" y="5339187"/>
            <a:ext cx="37086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楽曲レイヤーを右クリック → キーフレーム化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57300" y="5796387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076450" y="5853522"/>
            <a:ext cx="31310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Both Channels の値を使用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76450" y="6215472"/>
            <a:ext cx="31310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左右まとめた振幅をソースにする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57300" y="6672672"/>
            <a:ext cx="6858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076450" y="6729822"/>
            <a:ext cx="271957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90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パラメータに連動させる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76450" y="7091772"/>
            <a:ext cx="271957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8EFFF">
                    <a:alpha val="6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スケール／ブラー／光量へリンク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410700" y="5442161"/>
            <a:ext cx="7620000" cy="1419225"/>
          </a:xfrm>
          <a:prstGeom prst="rect">
            <a:avLst/>
          </a:prstGeom>
          <a:solidFill>
            <a:srgbClr val="FF4FA8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410700" y="5442161"/>
            <a:ext cx="38100" cy="1419225"/>
          </a:xfrm>
          <a:prstGeom prst="rect">
            <a:avLst/>
          </a:prstGeom>
          <a:solidFill>
            <a:srgbClr val="FFD27A">
              <a:alpha val="99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72650" y="5708861"/>
            <a:ext cx="71422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b="1" i="1" dirty="0">
                <a:solidFill>
                  <a:srgbClr val="FFD27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“Sound becomes force.”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772650" y="6232736"/>
            <a:ext cx="71422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spc="108" kern="0" dirty="0">
                <a:solidFill>
                  <a:srgbClr val="F8EFFF">
                    <a:alpha val="82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音の強さが、そのまま映像の強さになる。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07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6125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VISUALIZE THE SOUND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5689315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音を視覚化する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568931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音の役割を理解して、動きに変換する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105948"/>
            <a:ext cx="5067300" cy="1676400"/>
          </a:xfrm>
          <a:prstGeom prst="roundRect">
            <a:avLst>
              <a:gd name="adj" fmla="val 340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4FA8">
                <a:alpha val="40000"/>
              </a:srgbClr>
            </a:solidFill>
            <a:prstDash val="solid"/>
          </a:ln>
          <a:effectLst>
            <a:outerShdw sx="100000" sy="100000" kx="0" ky="0" algn="bl" rotWithShape="0" blurRad="247650" dist="50800" dir="16200000">
              <a:srgbClr val="FF4FA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2575" y="5382173"/>
            <a:ext cx="46110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KICK — 低音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52575" y="5706023"/>
            <a:ext cx="46110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揺れ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52575" y="6201323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画面全体のシェイク・バウンスへ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10350" y="5105948"/>
            <a:ext cx="5067300" cy="1676400"/>
          </a:xfrm>
          <a:prstGeom prst="roundRect">
            <a:avLst>
              <a:gd name="adj" fmla="val 340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5625" y="5382173"/>
            <a:ext cx="46110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SNARE — 中音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05625" y="5706023"/>
            <a:ext cx="46110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光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905625" y="6201306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グロー・フラッシュの明滅へ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963400" y="5105931"/>
            <a:ext cx="5067300" cy="1676400"/>
          </a:xfrm>
          <a:prstGeom prst="roundRect">
            <a:avLst>
              <a:gd name="adj" fmla="val 3409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8675" y="5382156"/>
            <a:ext cx="46110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HI-HAT — 高音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258675" y="5706006"/>
            <a:ext cx="46110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135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細かい動き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258675" y="6201306"/>
            <a:ext cx="461105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350" spc="54" kern="0" dirty="0">
                <a:solidFill>
                  <a:srgbClr val="F8EFFF">
                    <a:alpha val="66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パーティクル・微振動へ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00349" y="9038249"/>
            <a:ext cx="425570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音域ごとに役割を割り当てると、画面が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5903565" y="9038249"/>
            <a:ext cx="766316" cy="361950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spc="86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音楽的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6765131" y="9038249"/>
            <a:ext cx="99631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spc="86" kern="0" dirty="0">
                <a:solidFill>
                  <a:srgbClr val="FFD27A">
                    <a:alpha val="9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になる。</a:t>
            </a:r>
            <a:endParaRPr lang="en-US" sz="1725" dirty="0"/>
          </a:p>
        </p:txBody>
      </p:sp>
      <p:sp>
        <p:nvSpPr>
          <p:cNvPr id="24" name="Shape 22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08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4048125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4148137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4029075"/>
            <a:ext cx="17375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DEMO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4486275"/>
            <a:ext cx="15773400" cy="65722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4486275"/>
            <a:ext cx="1624660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550" b="1" i="1" spc="-55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実演：音同期モーション</a:t>
            </a:r>
            <a:endParaRPr lang="en-US" sz="5550" dirty="0"/>
          </a:p>
        </p:txBody>
      </p:sp>
      <p:sp>
        <p:nvSpPr>
          <p:cNvPr id="10" name="Text 7"/>
          <p:cNvSpPr/>
          <p:nvPr/>
        </p:nvSpPr>
        <p:spPr>
          <a:xfrm>
            <a:off x="1257300" y="5277289"/>
            <a:ext cx="162466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F8EFFF">
                    <a:alpha val="80000"/>
                  </a:srgbClr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音と映像が一致すると、“気持ちよさ”が生まれる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57300" y="5937559"/>
            <a:ext cx="1409998" cy="400050"/>
          </a:xfrm>
          <a:prstGeom prst="roundRect">
            <a:avLst>
              <a:gd name="adj" fmla="val 7143"/>
            </a:avLst>
          </a:prstGeom>
          <a:solidFill>
            <a:srgbClr val="FF4FA8"/>
          </a:solidFill>
          <a:ln/>
          <a:effectLst>
            <a:outerShdw sx="100000" sy="100000" kx="0" ky="0" algn="bl" rotWithShape="0" blurRad="133350" dist="50800" dir="16200000">
              <a:srgbClr val="FF4FA8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19225" y="6023284"/>
            <a:ext cx="11623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 ← 音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2800648" y="5937510"/>
            <a:ext cx="1295698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62573" y="6023235"/>
            <a:ext cx="1048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BLUR ← 音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4229695" y="5937510"/>
            <a:ext cx="1295698" cy="400050"/>
          </a:xfrm>
          <a:prstGeom prst="roundRect">
            <a:avLst>
              <a:gd name="adj" fmla="val 7143"/>
            </a:avLst>
          </a:prstGeom>
          <a:ln w="9525">
            <a:solidFill>
              <a:srgbClr val="FFD27A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91620" y="6023235"/>
            <a:ext cx="1048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GLOW ← 音</a:t>
            </a:r>
            <a:endParaRPr lang="en-US" sz="1125" dirty="0"/>
          </a:p>
        </p:txBody>
      </p:sp>
      <p:sp>
        <p:nvSpPr>
          <p:cNvPr id="17" name="Shape 14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09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-285750" y="5048250"/>
            <a:ext cx="2169616" cy="632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40000" b="1" i="1" spc="-1980" kern="0" dirty="0">
                <a:solidFill>
                  <a:srgbClr val="00000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40000" dirty="0"/>
          </a:p>
        </p:txBody>
      </p:sp>
      <p:sp>
        <p:nvSpPr>
          <p:cNvPr id="4" name="Text 2"/>
          <p:cNvSpPr/>
          <p:nvPr/>
        </p:nvSpPr>
        <p:spPr>
          <a:xfrm>
            <a:off x="1257300" y="1009650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23120" y="1109663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6" name="Text 4"/>
          <p:cNvSpPr/>
          <p:nvPr/>
        </p:nvSpPr>
        <p:spPr>
          <a:xfrm>
            <a:off x="2289870" y="990600"/>
            <a:ext cx="32322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WORKSHOP · 20 MIN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1257300" y="1390650"/>
            <a:ext cx="7295519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400" b="1" i="1" spc="-54" kern="0" dirty="0">
                <a:solidFill>
                  <a:srgbClr val="F8E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ワーク：8小節同期演出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57300" y="2105025"/>
            <a:ext cx="729551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315" kern="0" dirty="0">
                <a:solidFill>
                  <a:srgbClr val="B58E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音と映像の“気持ちよさ”を体で覚える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57300" y="529156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5450" y="5253462"/>
            <a:ext cx="211425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8小節分の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マーカー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57300" y="577733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5450" y="5739237"/>
            <a:ext cx="24537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歌詞のタイミング配置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57300" y="6263112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5450" y="6225012"/>
            <a:ext cx="307873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FF4FA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音反応アニメーション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を1つ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57300" y="6748887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5450" y="6710787"/>
            <a:ext cx="33154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シェイプ or テキストを動かす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10700" y="4884948"/>
            <a:ext cx="7620000" cy="2533650"/>
          </a:xfrm>
          <a:prstGeom prst="roundRect">
            <a:avLst>
              <a:gd name="adj" fmla="val 2256"/>
            </a:avLst>
          </a:prstGeom>
          <a:solidFill>
            <a:srgbClr val="FF4FA8">
              <a:alpha val="5000"/>
            </a:srgbClr>
          </a:solidFill>
          <a:ln w="9525">
            <a:solidFill>
              <a:srgbClr val="FFD27A">
                <a:alpha val="1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5975" y="5161173"/>
            <a:ext cx="72403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講評ポイント — REVIEW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02143" y="5485023"/>
            <a:ext cx="1126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マーカーの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11223724" y="5485023"/>
            <a:ext cx="4963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精度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0002143" y="5932698"/>
            <a:ext cx="1126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音と動きの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1223724" y="5932698"/>
            <a:ext cx="4963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一致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0002143" y="6380373"/>
            <a:ext cx="706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動きの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10803731" y="6380373"/>
            <a:ext cx="4963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強弱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1395323" y="6380373"/>
            <a:ext cx="1756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（ダイナミクス）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0002143" y="6828048"/>
            <a:ext cx="7062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spc="79" kern="0" dirty="0">
                <a:solidFill>
                  <a:srgbClr val="F8EFFF">
                    <a:alpha val="82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歌詞の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10803731" y="6828048"/>
            <a:ext cx="7063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b="1" spc="79" kern="0" dirty="0">
                <a:solidFill>
                  <a:srgbClr val="F8E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視認性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10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850FF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7030F">
              <a:alpha val="94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257300" y="3414713"/>
            <a:ext cx="289620" cy="24765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50800" dir="16200000">
              <a:srgbClr val="FF4FA8">
                <a:alpha val="5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FF4F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23120" y="3514725"/>
            <a:ext cx="514350" cy="9525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7" name="Text 4"/>
          <p:cNvSpPr/>
          <p:nvPr/>
        </p:nvSpPr>
        <p:spPr>
          <a:xfrm>
            <a:off x="2289870" y="3395663"/>
            <a:ext cx="2852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599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HOMEWORK → NEXT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257300" y="3852863"/>
            <a:ext cx="15773400" cy="714375"/>
          </a:xfrm>
          <a:prstGeom prst="rect">
            <a:avLst/>
          </a:prstGeom>
          <a:solidFill>
            <a:srgbClr val="FFE9B0"/>
          </a:solidFill>
          <a:ln/>
        </p:spPr>
      </p:sp>
      <p:sp>
        <p:nvSpPr>
          <p:cNvPr id="9" name="Text 6"/>
          <p:cNvSpPr/>
          <p:nvPr/>
        </p:nvSpPr>
        <p:spPr>
          <a:xfrm>
            <a:off x="1257300" y="3852863"/>
            <a:ext cx="16246602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6000" b="1" i="1" spc="-60" kern="0" dirty="0">
                <a:solidFill>
                  <a:srgbClr val="0000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宿題</a:t>
            </a:r>
            <a:endParaRPr lang="en-US" sz="6000" dirty="0"/>
          </a:p>
        </p:txBody>
      </p:sp>
      <p:sp>
        <p:nvSpPr>
          <p:cNvPr id="10" name="Shape 7"/>
          <p:cNvSpPr/>
          <p:nvPr/>
        </p:nvSpPr>
        <p:spPr>
          <a:xfrm>
            <a:off x="1257300" y="4929735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95450" y="4891635"/>
            <a:ext cx="269366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全曲</a:t>
            </a:r>
            <a:pPr algn="l" indent="0" marL="0">
              <a:buNone/>
            </a:pPr>
            <a:r>
              <a:rPr lang="en-US" sz="1800" b="1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マーカー入り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コンポ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57300" y="5415510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5450" y="5377410"/>
            <a:ext cx="318343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歌詞タイミングをすべて配置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57300" y="5901285"/>
            <a:ext cx="266700" cy="266700"/>
          </a:xfrm>
          <a:prstGeom prst="roundRect">
            <a:avLst>
              <a:gd name="adj" fmla="val 14286"/>
            </a:avLst>
          </a:prstGeom>
          <a:ln w="14288">
            <a:solidFill>
              <a:srgbClr val="B58E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95450" y="5863185"/>
            <a:ext cx="445944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30秒の音同期モーション</a:t>
            </a:r>
            <a:pPr algn="l" indent="0" marL="0">
              <a:buNone/>
            </a:pPr>
            <a:r>
              <a:rPr lang="en-US" sz="1800" spc="72" kern="0" dirty="0">
                <a:solidFill>
                  <a:srgbClr val="F8EFFF">
                    <a:alpha val="8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（任意の演出）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01837" y="6599849"/>
            <a:ext cx="26037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98" kern="0" dirty="0">
                <a:solidFill>
                  <a:srgbClr val="FFD27A">
                    <a:alpha val="98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— SESSION 03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4300984" y="6599849"/>
            <a:ext cx="5259482" cy="409575"/>
          </a:xfrm>
          <a:prstGeom prst="rect">
            <a:avLst/>
          </a:prstGeom>
          <a:noFill/>
          <a:ln/>
          <a:effectLst>
            <a:outerShdw sx="100000" sy="100000" kx="0" ky="0" algn="bl" rotWithShape="0" blurRad="114300" dist="50800" dir="16200000">
              <a:srgbClr val="5AE9FF">
                <a:alpha val="4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98" kern="0" dirty="0">
                <a:solidFill>
                  <a:srgbClr val="5AE9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Vコンテ制作（構図・カメラ・レイアウト）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rgbClr val="FF4FA8">
              <a:alpha val="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9753600"/>
            <a:ext cx="18288000" cy="9525"/>
          </a:xfrm>
          <a:prstGeom prst="rect">
            <a:avLst/>
          </a:prstGeom>
          <a:solidFill>
            <a:srgbClr val="FFD27A">
              <a:alpha val="13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19100" y="9934575"/>
            <a:ext cx="127649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PRISM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752749" y="10001250"/>
            <a:ext cx="47625" cy="47625"/>
          </a:xfrm>
          <a:prstGeom prst="ellipse">
            <a:avLst/>
          </a:prstGeom>
          <a:solidFill>
            <a:srgbClr val="FF4FA8"/>
          </a:solidFill>
          <a:ln/>
          <a:effectLst>
            <a:outerShdw sx="100000" sy="100000" kx="0" ky="0" algn="bl" rotWithShape="0" blurRad="76200" dist="50800" dir="16200000">
              <a:srgbClr val="FF4FA8">
                <a:alpha val="10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933724" y="9929813"/>
            <a:ext cx="252984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F8EF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幽ヶ崎 海月 · AE LYRIC MV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5468600" y="9934575"/>
            <a:ext cx="24765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315" kern="0" dirty="0">
                <a:solidFill>
                  <a:srgbClr val="FFD2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SESSION 02 — 11 / </a:t>
            </a:r>
            <a:pPr algn="l" indent="0" marL="0">
              <a:buNone/>
            </a:pPr>
            <a:r>
              <a:rPr lang="en-US" sz="1050" spc="315" kern="0" dirty="0">
                <a:solidFill>
                  <a:srgbClr val="B58EFF">
                    <a:alpha val="5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2026-06-07T00:18:01Z</dcterms:created>
  <dcterms:modified xsi:type="dcterms:W3CDTF">2026-06-07T00:18:01Z</dcterms:modified>
</cp:coreProperties>
</file>