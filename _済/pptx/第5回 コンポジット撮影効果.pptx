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1733550"/>
            <a:ext cx="3985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DEEP PRISM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5279082" y="1852612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5" name="Text 3"/>
          <p:cNvSpPr/>
          <p:nvPr/>
        </p:nvSpPr>
        <p:spPr>
          <a:xfrm>
            <a:off x="5945832" y="1733550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 LYRIC MV WORKSHOP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57300" y="2286000"/>
            <a:ext cx="9258300" cy="22860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286000"/>
            <a:ext cx="9536049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i="1" spc="-9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500" dirty="0"/>
          </a:p>
        </p:txBody>
      </p:sp>
      <p:sp>
        <p:nvSpPr>
          <p:cNvPr id="8" name="Shape 6"/>
          <p:cNvSpPr/>
          <p:nvPr/>
        </p:nvSpPr>
        <p:spPr>
          <a:xfrm>
            <a:off x="1257300" y="4629150"/>
            <a:ext cx="9258300" cy="15621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629150"/>
            <a:ext cx="9536049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600" b="1" i="1" spc="-66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CINEMATIC COMPOSITE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257300" y="6362700"/>
            <a:ext cx="953604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324" kern="0" dirty="0">
                <a:solidFill>
                  <a:srgbClr val="F8EFFF">
                    <a:alpha val="9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コンポジット撮影効果 — MVらしさの付与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57300" y="7115175"/>
            <a:ext cx="66713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映像に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“撮影された質感” 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を与える。 光・揺れ・色のズレで、CGっぽさを消し作品に昇華する。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8201025"/>
            <a:ext cx="781050" cy="371475"/>
          </a:xfrm>
          <a:prstGeom prst="roundRect">
            <a:avLst>
              <a:gd name="adj" fmla="val 7692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9225" y="8286750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GLOW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2152650" y="8201025"/>
            <a:ext cx="13525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4575" y="8286750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CHROMATIC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3619500" y="8201025"/>
            <a:ext cx="18097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1425" y="8286750"/>
            <a:ext cx="1562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WIGGLE · TYPO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5030D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0"/>
            <a:ext cx="7772400" cy="10287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7030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19100" y="9934575"/>
            <a:ext cx="16365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STAGE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112764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293739" y="9934575"/>
            <a:ext cx="38293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VTUBER MUSIC VIDEO · AFTER EFFECTS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068675" y="9934575"/>
            <a:ext cx="18764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GOALS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67827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今日のゴール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67827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Vコンテを“作品レベル”に引き上げる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110422"/>
            <a:ext cx="118039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MVらしい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831157" y="5100897"/>
            <a:ext cx="18264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光・揺れ・質感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752826" y="5110422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を作れる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672397"/>
            <a:ext cx="28328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グロー・ブラー・色収差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477196" y="5681922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を適切に使える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555403" y="6253422"/>
            <a:ext cx="20764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カメラシェイクを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727103" y="6243897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音と連動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4898678" y="6253422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させられる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55403" y="6824922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2476946" y="6815397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キネティックタイポ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898678" y="6824922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を作れる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545514" y="5441611"/>
            <a:ext cx="6485186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45514" y="5441611"/>
            <a:ext cx="38100" cy="1419225"/>
          </a:xfrm>
          <a:prstGeom prst="rect">
            <a:avLst/>
          </a:prstGeom>
          <a:solidFill>
            <a:srgbClr val="FFD27A">
              <a:alpha val="99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07464" y="5708311"/>
            <a:ext cx="59733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“Make it shot, not rendered.”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907464" y="6232186"/>
            <a:ext cx="59733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CGっぽさを消し、撮ったように見せる。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8519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"SHOT" LOOK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59304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MVの“撮影感”とは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5930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これらが入ると“CGっぽさ”が消える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148581"/>
            <a:ext cx="3017490" cy="1590675"/>
          </a:xfrm>
          <a:prstGeom prst="roundRect">
            <a:avLst>
              <a:gd name="adj" fmla="val 3593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325" y="5386706"/>
            <a:ext cx="326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57325" y="5805806"/>
            <a:ext cx="26959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光のにじみ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57325" y="6196331"/>
            <a:ext cx="2695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GLOW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46240" y="5148581"/>
            <a:ext cx="3017490" cy="1590675"/>
          </a:xfrm>
          <a:prstGeom prst="roundRect">
            <a:avLst>
              <a:gd name="adj" fmla="val 3593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6265" y="5386706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◎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6265" y="5805806"/>
            <a:ext cx="26959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レンズの揺れ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46265" y="6196331"/>
            <a:ext cx="2695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SHAKE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35180" y="5148581"/>
            <a:ext cx="3017490" cy="1590675"/>
          </a:xfrm>
          <a:prstGeom prst="roundRect">
            <a:avLst>
              <a:gd name="adj" fmla="val 3593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35205" y="5386706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835205" y="5805806"/>
            <a:ext cx="26959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色のズレ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835205" y="6196331"/>
            <a:ext cx="2695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CHROMATIC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824121" y="5148581"/>
            <a:ext cx="3017490" cy="1590675"/>
          </a:xfrm>
          <a:prstGeom prst="roundRect">
            <a:avLst>
              <a:gd name="adj" fmla="val 3593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24146" y="5386706"/>
            <a:ext cx="3239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024146" y="5805806"/>
            <a:ext cx="26959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ピントの浅さ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024146" y="6196331"/>
            <a:ext cx="2695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4013061" y="5148568"/>
            <a:ext cx="3017639" cy="1590675"/>
          </a:xfrm>
          <a:prstGeom prst="roundRect">
            <a:avLst>
              <a:gd name="adj" fmla="val 3593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13086" y="5386693"/>
            <a:ext cx="3399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213086" y="5805793"/>
            <a:ext cx="269611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ノイズ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213086" y="6196318"/>
            <a:ext cx="26961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GRAIN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57300" y="9023188"/>
            <a:ext cx="1624660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5つの“質感”が、画面をMVに変える。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106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GLOW &amp; BLUR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923222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グローとブラー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923222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光は“盛り上がりのスイッチ”、ブラーは“動きの気持ちよさ”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2924585"/>
            <a:ext cx="7620000" cy="6448425"/>
          </a:xfrm>
          <a:prstGeom prst="roundRect">
            <a:avLst>
              <a:gd name="adj" fmla="val 886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3200810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✦ GLOW — 光のにじみ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48743" y="3543710"/>
            <a:ext cx="13363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明るい部分を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3280470" y="3543710"/>
            <a:ext cx="4963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強調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552575" y="3991385"/>
            <a:ext cx="72403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サビの盛り上がりに合わせる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848743" y="4439046"/>
            <a:ext cx="15463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色を統一すると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3490466" y="4439046"/>
            <a:ext cx="13364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世界観が安定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894136" y="4958158"/>
            <a:ext cx="127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過剰にすると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65736" y="4958158"/>
            <a:ext cx="1115169" cy="3238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“安っぽく”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76155" y="4958158"/>
            <a:ext cx="676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0700" y="2927513"/>
            <a:ext cx="7620000" cy="6448425"/>
          </a:xfrm>
          <a:prstGeom prst="roundRect">
            <a:avLst>
              <a:gd name="adj" fmla="val 886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5975" y="3203738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◐ BLUR — スピード感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2143" y="3546638"/>
            <a:ext cx="20758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速い動き → ブラーを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2173248" y="3546638"/>
            <a:ext cx="7063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強める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0002143" y="3994313"/>
            <a:ext cx="2285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止まる瞬間 → ブラーを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2383393" y="3994313"/>
            <a:ext cx="7063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弱める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9705975" y="4441988"/>
            <a:ext cx="72403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音の強弱に合わせて変化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0047536" y="4961100"/>
            <a:ext cx="676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強弱が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819061" y="4961100"/>
            <a:ext cx="1076325" cy="3238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気持ちよさ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990636" y="4961100"/>
            <a:ext cx="876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を生む。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04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802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CHROMATIC ABERRATION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25358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色収差 — レンズの味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2535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RGBをわずかにズラし“レンズ感”を作る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720236"/>
            <a:ext cx="7620000" cy="2857500"/>
          </a:xfrm>
          <a:prstGeom prst="roundRect">
            <a:avLst>
              <a:gd name="adj" fmla="val 2000"/>
            </a:avLst>
          </a:prstGeom>
          <a:solidFill>
            <a:srgbClr val="B850FF">
              <a:alpha val="16000"/>
            </a:srgbClr>
          </a:solidFill>
          <a:ln w="9525">
            <a:solidFill>
              <a:srgbClr val="FFD27A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8803" y="4990336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画面端に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880378" y="4980811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少しだけ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051953" y="4990336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入れる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410700" y="5552311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サビのインパクトに合わせる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410700" y="6104708"/>
            <a:ext cx="7620000" cy="1219200"/>
          </a:xfrm>
          <a:prstGeom prst="roundRect">
            <a:avLst>
              <a:gd name="adj" fmla="val 468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05975" y="6380933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⚠ 注意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05975" y="6704783"/>
            <a:ext cx="72403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spc="60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強すぎると</a:t>
            </a:r>
            <a:pPr algn="l" indent="0" marL="0">
              <a:lnSpc>
                <a:spcPct val="180000"/>
              </a:lnSpc>
              <a:buNone/>
            </a:pPr>
            <a:r>
              <a:rPr lang="en-US" sz="1500" b="1" spc="60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“ホラー”</a:t>
            </a:r>
            <a:pPr algn="l" indent="0" marL="0">
              <a:lnSpc>
                <a:spcPct val="180000"/>
              </a:lnSpc>
              <a:buNone/>
            </a:pPr>
            <a:r>
              <a:rPr lang="en-US" sz="1500" spc="60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になる。あくまで“味”として。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05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992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 SHAKE · WIGGLE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68411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カメラシェイク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6841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手持ちカメラの揺れ — シェイクは“臨場感”を作る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615287"/>
            <a:ext cx="15773400" cy="1409700"/>
          </a:xfrm>
          <a:prstGeom prst="roundRect">
            <a:avLst>
              <a:gd name="adj" fmla="val 4054"/>
            </a:avLst>
          </a:prstGeom>
          <a:solidFill>
            <a:srgbClr val="080410">
              <a:alpha val="60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3713" y="5043912"/>
            <a:ext cx="5040426" cy="59055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spc="114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wiggle( </a:t>
            </a:r>
            <a:pPr algn="ctr" indent="0" marL="0">
              <a:buNone/>
            </a:pPr>
            <a:r>
              <a:rPr lang="en-US" sz="2850" b="1" spc="114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周波数 </a:t>
            </a:r>
            <a:pPr algn="ctr" indent="0" marL="0">
              <a:buNone/>
            </a:pPr>
            <a:r>
              <a:rPr lang="en-US" sz="2850" spc="114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</a:t>
            </a:r>
            <a:pPr algn="ctr" indent="0" marL="0">
              <a:buNone/>
            </a:pPr>
            <a:r>
              <a:rPr lang="en-US" sz="2850" b="1" spc="114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振幅 </a:t>
            </a:r>
            <a:pPr algn="ctr" indent="0" marL="0">
              <a:buNone/>
            </a:pPr>
            <a:r>
              <a:rPr lang="en-US" sz="2850" spc="114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257300" y="6408997"/>
            <a:ext cx="5092601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2575" y="6685222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55577" y="6742372"/>
            <a:ext cx="1463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スライダーで制御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2575" y="7104322"/>
            <a:ext cx="46371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強弱をパラメータ化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97551" y="6408997"/>
            <a:ext cx="509275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2826" y="6685222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20830" y="6742323"/>
            <a:ext cx="942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サビで強く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92826" y="7104273"/>
            <a:ext cx="46372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盛り上がりに迫力を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937950" y="6408948"/>
            <a:ext cx="5092601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33225" y="6685173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55426" y="6742323"/>
            <a:ext cx="1062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Aメロで弱く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233225" y="7104273"/>
            <a:ext cx="46371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静けさを保つ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06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4223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AUDIO-LINKED SHAKE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34855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音と連動するシェイク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3485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音が映像を動かす — 一致が“気持ちよさ”を生む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167759" y="4939137"/>
            <a:ext cx="1705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967288" y="5396337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43475" y="5410624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♪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52652" y="6024987"/>
            <a:ext cx="13244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オーディオ振幅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7034" y="6415512"/>
            <a:ext cx="8118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AMPLITUDE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773888" y="4939122"/>
            <a:ext cx="1970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7586663" y="5396322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62850" y="5410610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⊟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082879" y="6024972"/>
            <a:ext cx="15027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スライダーに接続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70750" y="6415497"/>
            <a:ext cx="403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0396240" y="4939122"/>
            <a:ext cx="1909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206038" y="5396322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82225" y="5410610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◎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791402" y="6024972"/>
            <a:ext cx="13244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シェイクの強さ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249346" y="6415497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SHAKE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3002816" y="4939122"/>
            <a:ext cx="2165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2825413" y="5396322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801600" y="5410610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✦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410777" y="6024972"/>
            <a:ext cx="13244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キックで揺れる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827794" y="6415497"/>
            <a:ext cx="566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IMPACT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174409" y="7009023"/>
            <a:ext cx="214158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94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キックで揺れる →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9411295" y="7009023"/>
            <a:ext cx="1700808" cy="39052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94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MVらしい迫力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1207353" y="7009023"/>
            <a:ext cx="32623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94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07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4223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TYPOGRAPHY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39187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歌詞のキネティックタイポ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3918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歌詞は“読ませる”のではなく“感じさせる”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510666"/>
            <a:ext cx="24003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5786891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577" y="5844041"/>
            <a:ext cx="7696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不透明度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6205991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フェードイン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67150" y="5510651"/>
            <a:ext cx="24003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2425" y="5786876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90430" y="5844026"/>
            <a:ext cx="11163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トラッキング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62425" y="6205976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文字間の広がり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77000" y="5510651"/>
            <a:ext cx="24003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2275" y="5786876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94475" y="5844026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位置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72275" y="6205976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上下の動き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410700" y="5427971"/>
            <a:ext cx="7620000" cy="1447800"/>
          </a:xfrm>
          <a:prstGeom prst="roundRect">
            <a:avLst>
              <a:gd name="adj" fmla="val 3947"/>
            </a:avLst>
          </a:prstGeom>
          <a:solidFill>
            <a:srgbClr val="080410">
              <a:alpha val="60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4075" y="5723246"/>
            <a:ext cx="1219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>
                    <a:alpha val="3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海の底で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020425" y="5723246"/>
            <a:ext cx="1333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海の底で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411075" y="5723246"/>
            <a:ext cx="1493639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16200000">
              <a:srgbClr val="FFD27A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540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海の底で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744075" y="6351896"/>
            <a:ext cx="71618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93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FADE → TRACK → ACCENT（音のアクセントに合わせる）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08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4067175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4167188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4048125"/>
            <a:ext cx="34223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 · 30 SEC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4505325"/>
            <a:ext cx="15773400" cy="61912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4505325"/>
            <a:ext cx="162466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250" b="1" i="1" spc="-52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実演：撮影効果の追加</a:t>
            </a:r>
            <a:endParaRPr lang="en-US" sz="5250" dirty="0"/>
          </a:p>
        </p:txBody>
      </p:sp>
      <p:sp>
        <p:nvSpPr>
          <p:cNvPr id="10" name="Text 7"/>
          <p:cNvSpPr/>
          <p:nvPr/>
        </p:nvSpPr>
        <p:spPr>
          <a:xfrm>
            <a:off x="1257300" y="5258315"/>
            <a:ext cx="16246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Vコンテが“MVの画面”に変わる瞬間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57300" y="5918760"/>
            <a:ext cx="1524000" cy="400050"/>
          </a:xfrm>
          <a:prstGeom prst="roundRect">
            <a:avLst>
              <a:gd name="adj" fmla="val 7143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19225" y="6004485"/>
            <a:ext cx="1276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グローをサビに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2914650" y="5918760"/>
            <a:ext cx="152400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6575" y="6004485"/>
            <a:ext cx="1276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色収差を画面端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572000" y="5918760"/>
            <a:ext cx="169545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3925" y="6004485"/>
            <a:ext cx="1447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シェイクを音連動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6400800" y="5918760"/>
            <a:ext cx="1695450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2725" y="6004485"/>
            <a:ext cx="1447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歌詞を音に合わせ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09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760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30 MIN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944070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ワーク：撮影効果入りVコンテ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94407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画面に“MVらしさ”を与える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29156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253462"/>
            <a:ext cx="36086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30秒のVコンテに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撮影効果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を追加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577733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5739237"/>
            <a:ext cx="39181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グロー・ブラー・色収差の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26311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6225012"/>
            <a:ext cx="25976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カメラシェイク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1つ以上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57300" y="674888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710772"/>
            <a:ext cx="293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歌詞のキネティックタイポ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4703973"/>
            <a:ext cx="7620000" cy="2895600"/>
          </a:xfrm>
          <a:prstGeom prst="roundRect">
            <a:avLst>
              <a:gd name="adj" fmla="val 197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5975" y="4980198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講評ポイント — REVIEW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01696" y="5313573"/>
            <a:ext cx="1076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撮影効果の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73271" y="5304048"/>
            <a:ext cx="7151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“適量”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05975" y="5732673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世界観との整合性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05975" y="6161298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音との同期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05975" y="6589923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歌詞の視認性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01696" y="7018548"/>
            <a:ext cx="876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過剰演出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3246" y="7028073"/>
            <a:ext cx="1676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になっていないか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10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414713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3514725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3395663"/>
            <a:ext cx="2852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HOMEWORK → NEXT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3852863"/>
            <a:ext cx="15773400" cy="71437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852863"/>
            <a:ext cx="1624660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0" b="1" i="1" spc="-60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宿題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1257300" y="492961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5450" y="4891512"/>
            <a:ext cx="38180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全曲に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撮影効果を適用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したVコンテ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57300" y="541538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5450" y="5377287"/>
            <a:ext cx="36732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カメラシェイクを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音と連動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させる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57300" y="590116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5450" y="5863062"/>
            <a:ext cx="53873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歌詞のキネティックタイポを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全セクション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に追加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01837" y="6599448"/>
            <a:ext cx="26037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98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— SESSION 06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4300984" y="6599448"/>
            <a:ext cx="5174098" cy="40957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最終仕上げと書き出し（YouTube最適化）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05 — 11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2026-06-07T02:24:15Z</dcterms:created>
  <dcterms:modified xsi:type="dcterms:W3CDTF">2026-06-07T02:24:15Z</dcterms:modified>
</cp:coreProperties>
</file>