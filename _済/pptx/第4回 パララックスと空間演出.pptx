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1714500"/>
            <a:ext cx="3985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DEEP PRISM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5279082" y="18335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5" name="Text 3"/>
          <p:cNvSpPr/>
          <p:nvPr/>
        </p:nvSpPr>
        <p:spPr>
          <a:xfrm>
            <a:off x="5945832" y="1714500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 LYRIC MV WORKSHOP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57300" y="2266950"/>
            <a:ext cx="9258300" cy="22860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266950"/>
            <a:ext cx="9536049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i="1" spc="-9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500" dirty="0"/>
          </a:p>
        </p:txBody>
      </p:sp>
      <p:sp>
        <p:nvSpPr>
          <p:cNvPr id="8" name="Shape 6"/>
          <p:cNvSpPr/>
          <p:nvPr/>
        </p:nvSpPr>
        <p:spPr>
          <a:xfrm>
            <a:off x="1257300" y="4610100"/>
            <a:ext cx="9258300" cy="16002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610100"/>
            <a:ext cx="953604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750" b="1" i="1" spc="-67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PARALLAX &amp; DEPTH</a:t>
            </a:r>
            <a:endParaRPr lang="en-US" sz="6750" dirty="0"/>
          </a:p>
        </p:txBody>
      </p:sp>
      <p:sp>
        <p:nvSpPr>
          <p:cNvPr id="10" name="Text 8"/>
          <p:cNvSpPr/>
          <p:nvPr/>
        </p:nvSpPr>
        <p:spPr>
          <a:xfrm>
            <a:off x="1257300" y="6381750"/>
            <a:ext cx="9536049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324" kern="0" dirty="0">
                <a:solidFill>
                  <a:srgbClr val="F8EFFF">
                    <a:alpha val="9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パララックスと空間演出 — 2.5D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57300" y="7134225"/>
            <a:ext cx="66713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平面のAIイラストを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“空間” 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に変える。 奥行きと撮影感で、MVらしさが一気に高まる。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8220075"/>
            <a:ext cx="1238250" cy="371475"/>
          </a:xfrm>
          <a:prstGeom prst="roundRect">
            <a:avLst>
              <a:gd name="adj" fmla="val 7692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9225" y="8305800"/>
            <a:ext cx="990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 LAYER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2609850" y="8220075"/>
            <a:ext cx="14668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1775" y="8305800"/>
            <a:ext cx="1219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CAMERA · Z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4191000" y="8220075"/>
            <a:ext cx="15811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925" y="8305800"/>
            <a:ext cx="1333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DOF · LIGHT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5030D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0"/>
            <a:ext cx="7772400" cy="10287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7030F"/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19100" y="9934575"/>
            <a:ext cx="16365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STAGE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112764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293739" y="9934575"/>
            <a:ext cx="38293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VTUBER MUSIC VIDEO · AFTER EFFECTS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068675" y="9934575"/>
            <a:ext cx="18764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GOALS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35591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今日のゴール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35591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平面のVコンテを“空間のある映像”に進化させる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110351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イラストを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977009" y="5100826"/>
            <a:ext cx="2076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前景・中景・背景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148709" y="5110351"/>
            <a:ext cx="15763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に分解できる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681851"/>
            <a:ext cx="6348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AEで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285554" y="5672326"/>
            <a:ext cx="16606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3Dレイヤー化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041428" y="5681851"/>
            <a:ext cx="248186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し、Z軸に配置できる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55403" y="6253351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カメラワークで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477071" y="6243826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自然なパララックス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898803" y="6253351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を作れる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55403" y="6815326"/>
            <a:ext cx="23549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DOF（被写界深度）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005560" y="6824851"/>
            <a:ext cx="309038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で撮影された質感を作れる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545514" y="5441319"/>
            <a:ext cx="6485186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45514" y="5441319"/>
            <a:ext cx="38100" cy="1419225"/>
          </a:xfrm>
          <a:prstGeom prst="rect">
            <a:avLst/>
          </a:prstGeom>
          <a:solidFill>
            <a:srgbClr val="FFD27A">
              <a:alpha val="99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07464" y="5708019"/>
            <a:ext cx="59733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“Flat becomes space.”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907464" y="6231894"/>
            <a:ext cx="59733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動かすのは素材ではなく、カメラ。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2913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IS 2.5D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13256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2.5Dとは何か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13256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平面素材を“奥行きのある空間”として扱う技術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767844"/>
            <a:ext cx="3705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5044069"/>
            <a:ext cx="3170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✕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07679" y="5101219"/>
            <a:ext cx="11830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3Dモデル不要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5463169"/>
            <a:ext cx="3208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モデリングはしない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172075" y="4767844"/>
            <a:ext cx="3705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7350" y="5044069"/>
            <a:ext cx="3399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45373" y="5101219"/>
            <a:ext cx="11163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レイヤー分解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67350" y="5463169"/>
            <a:ext cx="3208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2DをZ軸に配置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257300" y="6253744"/>
            <a:ext cx="76200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52575" y="6529969"/>
            <a:ext cx="3399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30598" y="6587119"/>
            <a:ext cx="18097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カメラで奥行きを生む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52575" y="6949069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カメラを動かすことで、視差＝奥行きが生まれる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410700" y="5442720"/>
            <a:ext cx="7620000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410700" y="5442720"/>
            <a:ext cx="38100" cy="14192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23" name="Text 21"/>
          <p:cNvSpPr/>
          <p:nvPr/>
        </p:nvSpPr>
        <p:spPr>
          <a:xfrm>
            <a:off x="9772650" y="5709420"/>
            <a:ext cx="71422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“Low cost, high impact.”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9772650" y="6233295"/>
            <a:ext cx="71422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MVで最も使われる、低コスト高効果の空間演出。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4943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DECOMPOSE THE ILLUSTRATION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04028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イラスト分解の考え方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04028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分解の精度が、パララックスの自然さを決める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4920087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6450" y="4977237"/>
            <a:ext cx="42382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前景 — Foreground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76450" y="5339187"/>
            <a:ext cx="4238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光・花・手前の装飾。動きのアクセントとして重要。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57300" y="5796387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76450" y="5853537"/>
            <a:ext cx="3881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中景 — Midground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76450" y="6215487"/>
            <a:ext cx="38815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キャラクター・主要オブジェクト。物語の主役。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7300" y="6672687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76450" y="6729837"/>
            <a:ext cx="31786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 — Background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76450" y="7091787"/>
            <a:ext cx="317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空・街・抽象背景。空間の奥を支える。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40601" y="3675322"/>
            <a:ext cx="8890099" cy="4953000"/>
          </a:xfrm>
          <a:prstGeom prst="roundRect">
            <a:avLst>
              <a:gd name="adj" fmla="val 1154"/>
            </a:avLst>
          </a:prstGeom>
          <a:solidFill>
            <a:srgbClr val="0B0518">
              <a:alpha val="99000"/>
            </a:srgbClr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778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0126" y="3684847"/>
            <a:ext cx="8871049" cy="493395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283476" y="3818148"/>
            <a:ext cx="1745754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8251" y="3865773"/>
            <a:ext cx="16124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SEPARATION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150126" y="7990098"/>
            <a:ext cx="8871049" cy="628650"/>
          </a:xfrm>
          <a:prstGeom prst="rect">
            <a:avLst/>
          </a:prstGeom>
          <a:solidFill>
            <a:srgbClr val="07030F">
              <a:alpha val="92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359676" y="8275848"/>
            <a:ext cx="87180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8E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境界が曖昧な部分は“雰囲気優先”で切る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04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8519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 LAYER BASICS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22246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3Dレイヤー化の基本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2224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Z軸の差が“空間の深さ”を作る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510651"/>
            <a:ext cx="24003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5786876"/>
            <a:ext cx="2530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43683" y="5844026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左右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67150" y="5510651"/>
            <a:ext cx="24003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2425" y="5786862"/>
            <a:ext cx="2393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39841" y="5844012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上下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77000" y="5510637"/>
            <a:ext cx="24003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72275" y="5786862"/>
            <a:ext cx="2460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56388" y="5844012"/>
            <a:ext cx="5962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奥行き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72275" y="6205962"/>
            <a:ext cx="1885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最重要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410700" y="4637347"/>
            <a:ext cx="7620000" cy="2447925"/>
          </a:xfrm>
          <a:prstGeom prst="roundRect">
            <a:avLst>
              <a:gd name="adj" fmla="val 2335"/>
            </a:avLst>
          </a:prstGeom>
          <a:solidFill>
            <a:srgbClr val="080410">
              <a:alpha val="60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44075" y="5523172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744075" y="5123122"/>
            <a:ext cx="19773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3Dレイヤーにチェック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5201007" y="5065972"/>
            <a:ext cx="15725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空間化スタート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744075" y="6142297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744075" y="5742247"/>
            <a:ext cx="13684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カメラとの距離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5201007" y="5685097"/>
            <a:ext cx="15725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見え方が変わる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744075" y="6389947"/>
            <a:ext cx="15530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遠いレイヤーほど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5531405" y="6304222"/>
            <a:ext cx="1242120" cy="390525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動きが遅い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53749" y="7328160"/>
            <a:ext cx="76628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遠近で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0615315" y="7328160"/>
            <a:ext cx="766316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速度差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11476881" y="7328160"/>
            <a:ext cx="296658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が出る — それが視差効果。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05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BUILDING PARALLAX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99322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パララックスの作り方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99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奥行き差 × カメラ移動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067425" y="4265749"/>
            <a:ext cx="2343150" cy="2499360"/>
          </a:xfrm>
          <a:prstGeom prst="roundRect">
            <a:avLst>
              <a:gd name="adj" fmla="val 3252"/>
            </a:avLst>
          </a:prstGeom>
          <a:solidFill>
            <a:srgbClr val="243A6E">
              <a:alpha val="55000"/>
            </a:srgbClr>
          </a:solidFill>
          <a:ln w="9525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B850FF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4699" y="5167861"/>
            <a:ext cx="844802" cy="17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51548" y="5363109"/>
            <a:ext cx="451104" cy="311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50039" y="5698960"/>
            <a:ext cx="1254121" cy="202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= +500〜+1500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7715250" y="4277164"/>
            <a:ext cx="2857500" cy="3048000"/>
          </a:xfrm>
          <a:prstGeom prst="roundRect">
            <a:avLst>
              <a:gd name="adj" fmla="val 2667"/>
            </a:avLst>
          </a:prstGeom>
          <a:solidFill>
            <a:srgbClr val="B03A8A">
              <a:alpha val="50000"/>
            </a:srgbClr>
          </a:solidFill>
          <a:ln w="9525">
            <a:solidFill>
              <a:srgbClr val="FF4FA8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FF4FA8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22221" y="5391589"/>
            <a:ext cx="9197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MIDGROUND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58200" y="5629714"/>
            <a:ext cx="1447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中景・キャラ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96350" y="6039289"/>
            <a:ext cx="571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= 0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9448800" y="4380034"/>
            <a:ext cx="3200400" cy="3413760"/>
          </a:xfrm>
          <a:prstGeom prst="roundRect">
            <a:avLst>
              <a:gd name="adj" fmla="val 2381"/>
            </a:avLst>
          </a:prstGeom>
          <a:solidFill>
            <a:srgbClr val="5AE9FF">
              <a:alpha val="28000"/>
            </a:srgbClr>
          </a:solidFill>
          <a:ln w="9525">
            <a:solidFill>
              <a:srgbClr val="5AE9FF">
                <a:alpha val="50000"/>
              </a:srgbClr>
            </a:solidFill>
            <a:prstDash val="solid"/>
          </a:ln>
          <a:effectLst>
            <a:outerShdw sx="100000" sy="100000" kx="0" ky="0" algn="bl" rotWithShape="0" blurRad="285750" dist="50800" dir="16200000">
              <a:srgbClr val="B850FF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24101" y="5612188"/>
            <a:ext cx="1125999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FOREGROUND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92968" y="5878888"/>
            <a:ext cx="58826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300074" y="6337612"/>
            <a:ext cx="1574053" cy="262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= -200〜-400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4646473" y="7982389"/>
            <a:ext cx="2750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▣ CAMERA — ゆっくり動かすほど自然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186339" y="8447396"/>
            <a:ext cx="145637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急激な動きは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7738021" y="8447396"/>
            <a:ext cx="1501080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“ゲーム画面”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9334351" y="8447396"/>
            <a:ext cx="320351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に見える — ゆっくりが鉄則。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06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661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DEPTH OF FIELD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85863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DOFで撮影感を作る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8586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DOFを使うと“カメラで撮った映像”に近づく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396351"/>
            <a:ext cx="189154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手前にピント →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3542258" y="5386826"/>
            <a:ext cx="15763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背景がボケる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555403" y="5967851"/>
            <a:ext cx="189154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背景にピント →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3542258" y="5958312"/>
            <a:ext cx="18264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キャラがボケる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55403" y="6539337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ボケは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2476946" y="6529812"/>
            <a:ext cx="2076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空間のリアリティ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4648646" y="6539337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を作る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410700" y="5318385"/>
            <a:ext cx="7620000" cy="1666875"/>
          </a:xfrm>
          <a:prstGeom prst="roundRect">
            <a:avLst>
              <a:gd name="adj" fmla="val 342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39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577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05975" y="5594610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⚠ 注意 — CAUTION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05975" y="5918460"/>
            <a:ext cx="72403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強すぎるDOF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05975" y="6366135"/>
            <a:ext cx="72403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00" spc="60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“ミニチュア感”が出てしまう。ボケは</a:t>
            </a:r>
            <a:pPr algn="l" indent="0" marL="0">
              <a:lnSpc>
                <a:spcPct val="180000"/>
              </a:lnSpc>
              <a:buNone/>
            </a:pPr>
            <a:r>
              <a:rPr lang="en-US" sz="1500" b="1" spc="60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ほどほど</a:t>
            </a:r>
            <a:pPr algn="l" indent="0" marL="0">
              <a:lnSpc>
                <a:spcPct val="180000"/>
              </a:lnSpc>
              <a:buNone/>
            </a:pPr>
            <a:r>
              <a:rPr lang="en-US" sz="1500" spc="60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07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6125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LIGHTING · OPTIONAL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45493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ライトの基礎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454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ライトは“空気感”を作るための要素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100775"/>
            <a:ext cx="5067300" cy="1685925"/>
          </a:xfrm>
          <a:prstGeom prst="roundRect">
            <a:avLst>
              <a:gd name="adj" fmla="val 3390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5377000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577" y="5434150"/>
            <a:ext cx="7696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平行光源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5796100"/>
            <a:ext cx="46110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PARALLEL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2575" y="6205675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太陽光のような均一な光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10350" y="5100775"/>
            <a:ext cx="5067300" cy="1685925"/>
          </a:xfrm>
          <a:prstGeom prst="roundRect">
            <a:avLst>
              <a:gd name="adj" fmla="val 3390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5625" y="5377000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133630" y="5434142"/>
            <a:ext cx="12896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スポットライト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05625" y="5796092"/>
            <a:ext cx="46110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5625" y="6205667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ドラマチックな演出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963400" y="5100767"/>
            <a:ext cx="5067300" cy="1685925"/>
          </a:xfrm>
          <a:prstGeom prst="roundRect">
            <a:avLst>
              <a:gd name="adj" fmla="val 3390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8675" y="5376992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480875" y="5434142"/>
            <a:ext cx="13296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影 — SHADOW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258675" y="5796092"/>
            <a:ext cx="46110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258675" y="6205667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影を落とすと存在感が増す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00349" y="9036733"/>
            <a:ext cx="33079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光の方向が生まれると、画面に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4983510" y="9036733"/>
            <a:ext cx="536377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空気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5615136" y="9036733"/>
            <a:ext cx="9963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が宿る。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08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452813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3552825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3433763"/>
            <a:ext cx="34223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 · 30 SEC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3890962"/>
            <a:ext cx="15773400" cy="61912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890962"/>
            <a:ext cx="1624660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250" b="1" i="1" spc="-52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実演：空間化Vコンテ</a:t>
            </a:r>
            <a:endParaRPr lang="en-US" sz="5250" dirty="0"/>
          </a:p>
        </p:txBody>
      </p:sp>
      <p:sp>
        <p:nvSpPr>
          <p:cNvPr id="10" name="Text 7"/>
          <p:cNvSpPr/>
          <p:nvPr/>
        </p:nvSpPr>
        <p:spPr>
          <a:xfrm>
            <a:off x="1257300" y="4643876"/>
            <a:ext cx="16246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平面が“空間”に変わる瞬間を見せる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162621" y="5304097"/>
            <a:ext cx="1705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2150" y="5761297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938338" y="5775585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▤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761083" y="6389947"/>
            <a:ext cx="8974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3層に分解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882825" y="6780472"/>
            <a:ext cx="7300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FG·MG·BG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054376" y="5304097"/>
            <a:ext cx="1970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550" dirty="0"/>
          </a:p>
        </p:txBody>
      </p:sp>
      <p:sp>
        <p:nvSpPr>
          <p:cNvPr id="17" name="Shape 14"/>
          <p:cNvSpPr/>
          <p:nvPr/>
        </p:nvSpPr>
        <p:spPr>
          <a:xfrm>
            <a:off x="3867150" y="5761297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843338" y="5775585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▣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3512195" y="6389947"/>
            <a:ext cx="120506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3Dレイヤー化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910459" y="6780472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3D 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962352" y="5304097"/>
            <a:ext cx="1909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550" dirty="0"/>
          </a:p>
        </p:txBody>
      </p:sp>
      <p:sp>
        <p:nvSpPr>
          <p:cNvPr id="22" name="Shape 19"/>
          <p:cNvSpPr/>
          <p:nvPr/>
        </p:nvSpPr>
        <p:spPr>
          <a:xfrm>
            <a:off x="5772150" y="5761297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748338" y="5775585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↕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5569000" y="6389947"/>
            <a:ext cx="90145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Z軸に配置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815459" y="6780472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DEPTH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7854553" y="5304048"/>
            <a:ext cx="2165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550" dirty="0"/>
          </a:p>
        </p:txBody>
      </p:sp>
      <p:sp>
        <p:nvSpPr>
          <p:cNvPr id="27" name="Shape 24"/>
          <p:cNvSpPr/>
          <p:nvPr/>
        </p:nvSpPr>
        <p:spPr>
          <a:xfrm>
            <a:off x="7677150" y="5761248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653338" y="5775536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◎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7351663" y="6389898"/>
            <a:ext cx="1146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カメラ＋ヌル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761238" y="6780423"/>
            <a:ext cx="403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9769227" y="5304048"/>
            <a:ext cx="1973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2550" dirty="0"/>
          </a:p>
        </p:txBody>
      </p:sp>
      <p:sp>
        <p:nvSpPr>
          <p:cNvPr id="32" name="Shape 29"/>
          <p:cNvSpPr/>
          <p:nvPr/>
        </p:nvSpPr>
        <p:spPr>
          <a:xfrm>
            <a:off x="9582150" y="5761248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558338" y="5775536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❋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9425583" y="6389898"/>
            <a:ext cx="8082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DOF追加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9625459" y="6780423"/>
            <a:ext cx="4848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FOCUS</a:t>
            </a:r>
            <a:endParaRPr lang="en-US" sz="825" dirty="0"/>
          </a:p>
        </p:txBody>
      </p:sp>
      <p:sp>
        <p:nvSpPr>
          <p:cNvPr id="36" name="Shape 3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09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54689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30 MIN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944070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ワーク：パララックスVコンテ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944070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Vコンテを“立体的な画面”に進化させる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29150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253407"/>
            <a:ext cx="26291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30秒のVコンテを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空間化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577728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5739182"/>
            <a:ext cx="3086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前景・中景・背景の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3層構造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263043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6224943"/>
            <a:ext cx="23599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カメラワーク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1つ以上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57300" y="6748806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710706"/>
            <a:ext cx="22208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DOFを使った撮影感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4703737"/>
            <a:ext cx="7620000" cy="2895600"/>
          </a:xfrm>
          <a:prstGeom prst="roundRect">
            <a:avLst>
              <a:gd name="adj" fmla="val 197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5975" y="4979962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講評ポイント — REVIEW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01696" y="5313337"/>
            <a:ext cx="876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奥行きの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3246" y="5303812"/>
            <a:ext cx="6762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01696" y="5741962"/>
            <a:ext cx="876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3246" y="5732437"/>
            <a:ext cx="8763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滑らかさ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05975" y="6161016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DOFの使い方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05975" y="6589641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レイヤー分解の精度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01696" y="7027791"/>
            <a:ext cx="1076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75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空間として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173271" y="7018266"/>
            <a:ext cx="1676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b="1" spc="7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破綻していないか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10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414713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3514725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3395663"/>
            <a:ext cx="2852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HOMEWORK → NEXT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3852863"/>
            <a:ext cx="15773400" cy="71437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852863"/>
            <a:ext cx="1624660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0" b="1" i="1" spc="-60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宿題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1257300" y="4929626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5450" y="4891512"/>
            <a:ext cx="35833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全曲の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パララックス入りVコンテ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57300" y="541538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5450" y="5377287"/>
            <a:ext cx="28418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カメラワークを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2箇所以上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57300" y="590116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5450" y="5863062"/>
            <a:ext cx="33367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DOFを使った撮影演出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1つ以上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01837" y="6599497"/>
            <a:ext cx="26037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98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— SESSION 05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4300984" y="6599497"/>
            <a:ext cx="5222078" cy="40957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コンポジット撮影効果（MVらしさの付与）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04 — 11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2026-06-07T02:23:43Z</dcterms:created>
  <dcterms:modified xsi:type="dcterms:W3CDTF">2026-06-07T02:23:43Z</dcterms:modified>
</cp:coreProperties>
</file>